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581A"/>
    <a:srgbClr val="E75825"/>
    <a:srgbClr val="B5522F"/>
    <a:srgbClr val="B64112"/>
    <a:srgbClr val="B4714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31" autoAdjust="0"/>
    <p:restoredTop sz="94660"/>
  </p:normalViewPr>
  <p:slideViewPr>
    <p:cSldViewPr snapToGrid="0" snapToObjects="1">
      <p:cViewPr varScale="1">
        <p:scale>
          <a:sx n="78" d="100"/>
          <a:sy n="78" d="100"/>
        </p:scale>
        <p:origin x="83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pPr/>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pPr/>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BC581A"/>
            </a:gs>
            <a:gs pos="25000">
              <a:srgbClr val="E75825"/>
            </a:gs>
            <a:gs pos="75000">
              <a:schemeClr val="accent1">
                <a:lumMod val="75000"/>
              </a:schemeClr>
            </a:gs>
            <a:gs pos="49000">
              <a:schemeClr val="accent1"/>
            </a:gs>
            <a:gs pos="100000">
              <a:schemeClr val="accent6">
                <a:lumMod val="7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152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0" y="914400"/>
            <a:ext cx="10789920" cy="1015663"/>
          </a:xfrm>
          <a:prstGeom prst="rect">
            <a:avLst/>
          </a:prstGeom>
          <a:noFill/>
        </p:spPr>
        <p:txBody>
          <a:bodyPr wrap="square">
            <a:spAutoFit/>
          </a:bodyPr>
          <a:lstStyle/>
          <a:p>
            <a:pPr algn="l">
              <a:defRPr sz="3100" b="1">
                <a:solidFill>
                  <a:srgbClr val="3E2B2B"/>
                </a:solidFill>
                <a:latin typeface="Aptos"/>
              </a:defRPr>
            </a:pPr>
            <a:r>
              <a:rPr sz="3500" b="1" u="sng" dirty="0">
                <a:solidFill>
                  <a:srgbClr val="FFFFFF"/>
                </a:solidFill>
                <a:latin typeface="Times New Roman"/>
              </a:rPr>
              <a:t>AI-Based Industrial</a:t>
            </a:r>
            <a:endParaRPr lang="en-IN" sz="3000" dirty="0">
              <a:solidFill>
                <a:schemeClr val="accent2">
                  <a:lumMod val="50000"/>
                </a:schemeClr>
              </a:solidFill>
            </a:endParaRPr>
          </a:p>
          <a:p>
            <a:pPr algn="ctr">
              <a:defRPr sz="3100" b="1">
                <a:solidFill>
                  <a:srgbClr val="3E2B2B"/>
                </a:solidFill>
                <a:latin typeface="Aptos"/>
              </a:defRPr>
            </a:pPr>
            <a:r>
              <a:rPr sz="3500" b="1" u="sng" dirty="0">
                <a:solidFill>
                  <a:srgbClr val="FFFFFF"/>
                </a:solidFill>
                <a:latin typeface="Times New Roman"/>
              </a:rPr>
              <a:t>Maintenance</a:t>
            </a:r>
            <a:r>
              <a:rPr lang="en-IN" sz="3500" b="1" u="sng" dirty="0">
                <a:solidFill>
                  <a:srgbClr val="FFFFFF"/>
                </a:solidFill>
                <a:latin typeface="Times New Roman"/>
              </a:rPr>
              <a:t> &amp; </a:t>
            </a:r>
            <a:r>
              <a:rPr sz="3500" b="1" u="sng" dirty="0">
                <a:solidFill>
                  <a:srgbClr val="FFFFFF"/>
                </a:solidFill>
                <a:latin typeface="Times New Roman"/>
              </a:rPr>
              <a:t>Process Optimization</a:t>
            </a:r>
          </a:p>
        </p:txBody>
      </p:sp>
      <p:sp>
        <p:nvSpPr>
          <p:cNvPr id="4" name="TextBox 3"/>
          <p:cNvSpPr txBox="1"/>
          <p:nvPr/>
        </p:nvSpPr>
        <p:spPr>
          <a:xfrm>
            <a:off x="3201383" y="2258693"/>
            <a:ext cx="6033074" cy="394980"/>
          </a:xfrm>
          <a:prstGeom prst="rect">
            <a:avLst/>
          </a:prstGeom>
          <a:noFill/>
        </p:spPr>
        <p:txBody>
          <a:bodyPr wrap="square" lIns="25400" tIns="12700" rIns="25400" bIns="12700">
            <a:spAutoFit/>
          </a:bodyPr>
          <a:lstStyle/>
          <a:p>
            <a:pPr algn="l">
              <a:defRPr sz="1700" b="0">
                <a:solidFill>
                  <a:srgbClr val="703D3D"/>
                </a:solidFill>
                <a:latin typeface="Aptos"/>
              </a:defRPr>
            </a:pPr>
            <a:r>
              <a:rPr sz="2400" b="1" dirty="0" err="1">
                <a:solidFill>
                  <a:srgbClr val="000000"/>
                </a:solidFill>
                <a:latin typeface="Times New Roman"/>
              </a:rPr>
              <a:t>FactoryOps</a:t>
            </a:r>
            <a:r>
              <a:rPr sz="2400" b="1" dirty="0">
                <a:solidFill>
                  <a:srgbClr val="000000"/>
                </a:solidFill>
                <a:latin typeface="Times New Roman"/>
              </a:rPr>
              <a:t> Predictive Maintenance Platform</a:t>
            </a:r>
          </a:p>
        </p:txBody>
      </p:sp>
      <p:sp>
        <p:nvSpPr>
          <p:cNvPr id="7" name="TextBox 6"/>
          <p:cNvSpPr txBox="1"/>
          <p:nvPr/>
        </p:nvSpPr>
        <p:spPr>
          <a:xfrm>
            <a:off x="2634996" y="3040241"/>
            <a:ext cx="6922008" cy="2903359"/>
          </a:xfrm>
          <a:prstGeom prst="rect">
            <a:avLst/>
          </a:prstGeom>
          <a:noFill/>
        </p:spPr>
        <p:txBody>
          <a:bodyPr wrap="square" lIns="25400" tIns="12700" rIns="25400" bIns="12700">
            <a:spAutoFit/>
          </a:bodyPr>
          <a:lstStyle/>
          <a:p>
            <a:pPr algn="ctr">
              <a:defRPr sz="1700"/>
            </a:pPr>
            <a:r>
              <a:rPr b="1" dirty="0">
                <a:solidFill>
                  <a:srgbClr val="000000"/>
                </a:solidFill>
                <a:latin typeface="Times New Roman"/>
              </a:rPr>
              <a:t>Team: D
Mentor: Miss </a:t>
            </a:r>
            <a:r>
              <a:rPr b="1" dirty="0" err="1">
                <a:solidFill>
                  <a:srgbClr val="000000"/>
                </a:solidFill>
                <a:latin typeface="Times New Roman"/>
              </a:rPr>
              <a:t>Selciya</a:t>
            </a:r>
            <a:r>
              <a:rPr b="1" dirty="0">
                <a:solidFill>
                  <a:srgbClr val="000000"/>
                </a:solidFill>
                <a:latin typeface="Times New Roman"/>
              </a:rPr>
              <a:t>
Team Members:
1. Rajeswari </a:t>
            </a:r>
            <a:r>
              <a:rPr b="1" dirty="0" err="1">
                <a:solidFill>
                  <a:srgbClr val="000000"/>
                </a:solidFill>
                <a:latin typeface="Times New Roman"/>
              </a:rPr>
              <a:t>Teppala</a:t>
            </a:r>
            <a:r>
              <a:rPr b="1" dirty="0">
                <a:solidFill>
                  <a:srgbClr val="000000"/>
                </a:solidFill>
                <a:latin typeface="Times New Roman"/>
              </a:rPr>
              <a:t>
2. Eswar Reddy Anush
3. Sachin AS
4. </a:t>
            </a:r>
            <a:r>
              <a:rPr b="1" dirty="0" err="1">
                <a:solidFill>
                  <a:srgbClr val="000000"/>
                </a:solidFill>
                <a:latin typeface="Times New Roman"/>
              </a:rPr>
              <a:t>Sindhukay</a:t>
            </a:r>
            <a:r>
              <a:rPr b="1" dirty="0">
                <a:solidFill>
                  <a:srgbClr val="000000"/>
                </a:solidFill>
                <a:latin typeface="Times New Roman"/>
              </a:rPr>
              <a:t> </a:t>
            </a:r>
            <a:r>
              <a:rPr b="1" dirty="0" err="1">
                <a:solidFill>
                  <a:srgbClr val="000000"/>
                </a:solidFill>
                <a:latin typeface="Times New Roman"/>
              </a:rPr>
              <a:t>Ernapati</a:t>
            </a:r>
            <a:r>
              <a:rPr b="1" dirty="0">
                <a:solidFill>
                  <a:srgbClr val="000000"/>
                </a:solidFill>
                <a:latin typeface="Times New Roman"/>
              </a:rPr>
              <a:t>
5. </a:t>
            </a:r>
            <a:r>
              <a:rPr b="1" dirty="0" err="1">
                <a:solidFill>
                  <a:srgbClr val="000000"/>
                </a:solidFill>
                <a:latin typeface="Times New Roman"/>
              </a:rPr>
              <a:t>Vabyasha</a:t>
            </a:r>
            <a:r>
              <a:rPr b="1" dirty="0">
                <a:solidFill>
                  <a:srgbClr val="000000"/>
                </a:solidFill>
                <a:latin typeface="Times New Roman"/>
              </a:rPr>
              <a:t> Mohapatra
6. Vaishnavi Kumari
7. Vyshnavi Ganta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62400" y="176981"/>
            <a:ext cx="4425696" cy="960119"/>
          </a:xfrm>
        </p:spPr>
        <p:txBody>
          <a:bodyPr>
            <a:normAutofit/>
          </a:bodyPr>
          <a:lstStyle/>
          <a:p>
            <a:pPr algn="ctr"/>
            <a:r>
              <a:rPr lang="en-US" sz="3500" b="1" u="sng" dirty="0">
                <a:solidFill>
                  <a:srgbClr val="FFFFFF"/>
                </a:solidFill>
                <a:latin typeface="Times New Roman" panose="02020603050405020304" pitchFamily="18" charset="0"/>
                <a:cs typeface="Times New Roman" panose="02020603050405020304" pitchFamily="18" charset="0"/>
              </a:rPr>
              <a:t>Contents</a:t>
            </a:r>
          </a:p>
        </p:txBody>
      </p:sp>
      <p:sp>
        <p:nvSpPr>
          <p:cNvPr id="3" name="Subtitle 2"/>
          <p:cNvSpPr>
            <a:spLocks noGrp="1"/>
          </p:cNvSpPr>
          <p:nvPr>
            <p:ph type="subTitle" idx="1"/>
          </p:nvPr>
        </p:nvSpPr>
        <p:spPr>
          <a:xfrm>
            <a:off x="2974848" y="1509740"/>
            <a:ext cx="6400800" cy="4770120"/>
          </a:xfrm>
          <a:solidFill>
            <a:srgbClr val="000000">
              <a:alpha val="0"/>
            </a:srgbClr>
          </a:solidFill>
        </p:spPr>
        <p:txBody>
          <a:bodyPr wrap="square" lIns="25400" tIns="12700" rIns="25400" bIns="12700">
            <a:normAutofit/>
          </a:bodyPr>
          <a:lstStyle/>
          <a:p>
            <a:r>
              <a:rPr sz="1800" b="1" dirty="0">
                <a:solidFill>
                  <a:srgbClr val="000000"/>
                </a:solidFill>
                <a:latin typeface="Times New Roman"/>
              </a:rPr>
              <a:t>1. Introduction &amp; Problem Statement
2. Objectives &amp; System Architecture
3. Frontend &amp; Application Access
4. Frontend Dashboard
5. Fleet &amp; Machine Monitoring
6. Predictions &amp; Alerts
7. Maintenance Management
8. Records &amp; Data Management
9. Backend &amp; API Architecture
10. AI/ML Models &amp; System Workflow
11. Results, Advantages &amp; Use Cases
12. Future Scope &amp; Conclusion</a:t>
            </a:r>
            <a:endParaRPr lang="en-US" sz="2600" b="1" dirty="0">
              <a:solidFill>
                <a:schemeClr val="tx1">
                  <a:lumMod val="95000"/>
                  <a:lumOff val="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93394" y="448743"/>
            <a:ext cx="9205213" cy="630942"/>
          </a:xfrm>
          <a:prstGeom prst="rect">
            <a:avLst/>
          </a:prstGeom>
          <a:noFill/>
        </p:spPr>
        <p:txBody>
          <a:bodyPr wrap="square">
            <a:spAutoFit/>
          </a:bodyPr>
          <a:lstStyle/>
          <a:p>
            <a:pPr algn="l">
              <a:defRPr sz="2600" b="1">
                <a:solidFill>
                  <a:srgbClr val="3E2B2B"/>
                </a:solidFill>
                <a:latin typeface="Aptos Display"/>
              </a:defRPr>
            </a:pPr>
            <a:r>
              <a:rPr sz="3500" b="1" u="sng" dirty="0">
                <a:solidFill>
                  <a:srgbClr val="FFFFFF"/>
                </a:solidFill>
                <a:latin typeface="Times New Roman" panose="02020603050405020304" pitchFamily="18" charset="0"/>
                <a:cs typeface="Times New Roman" panose="02020603050405020304" pitchFamily="18" charset="0"/>
              </a:rPr>
              <a:t>1. Introduction &amp; Problem Statement</a:t>
            </a:r>
          </a:p>
        </p:txBody>
      </p:sp>
      <p:sp>
        <p:nvSpPr>
          <p:cNvPr id="3" name="Rectangle 2"/>
          <p:cNvSpPr/>
          <p:nvPr/>
        </p:nvSpPr>
        <p:spPr>
          <a:xfrm>
            <a:off x="59436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490472"/>
            <a:ext cx="4892040" cy="353943"/>
          </a:xfrm>
          <a:prstGeom prst="rect">
            <a:avLst/>
          </a:prstGeom>
          <a:noFill/>
        </p:spPr>
        <p:txBody>
          <a:bodyPr wrap="square">
            <a:spAutoFit/>
          </a:bodyPr>
          <a:lstStyle/>
          <a:p>
            <a:pPr algn="ctr">
              <a:defRPr sz="1300" b="1">
                <a:solidFill>
                  <a:srgbClr val="703D3D"/>
                </a:solidFill>
                <a:latin typeface="Aptos"/>
              </a:defRPr>
            </a:pPr>
            <a:r>
              <a:rPr sz="1700" b="1" dirty="0">
                <a:solidFill>
                  <a:srgbClr val="000000"/>
                </a:solidFill>
                <a:latin typeface="Times New Roman"/>
              </a:rPr>
              <a:t>INTRODUCTION</a:t>
            </a:r>
          </a:p>
        </p:txBody>
      </p:sp>
      <p:sp>
        <p:nvSpPr>
          <p:cNvPr id="6" name="TextBox 5"/>
          <p:cNvSpPr txBox="1"/>
          <p:nvPr/>
        </p:nvSpPr>
        <p:spPr>
          <a:xfrm>
            <a:off x="868680" y="1856231"/>
            <a:ext cx="4892040" cy="1256754"/>
          </a:xfrm>
          <a:prstGeom prst="rect">
            <a:avLst/>
          </a:prstGeom>
          <a:noFill/>
          <a:ln>
            <a:solidFill>
              <a:schemeClr val="tx1">
                <a:lumMod val="40000"/>
                <a:lumOff val="60000"/>
              </a:schemeClr>
            </a:solidFill>
          </a:ln>
        </p:spPr>
        <p:txBody>
          <a:bodyPr wrap="square" lIns="25400" tIns="12700" rIns="25400" bIns="12700">
            <a:spAutoFit/>
          </a:bodyPr>
          <a:lstStyle/>
          <a:p>
            <a:pPr algn="l">
              <a:defRPr sz="1300" b="0">
                <a:solidFill>
                  <a:srgbClr val="3E2B2B"/>
                </a:solidFill>
                <a:latin typeface="Aptos"/>
              </a:defRPr>
            </a:pPr>
            <a:r>
              <a:rPr sz="1600" b="1" dirty="0">
                <a:solidFill>
                  <a:srgbClr val="000000"/>
                </a:solidFill>
                <a:latin typeface="Times New Roman"/>
              </a:rPr>
              <a:t>Industrial assets continuously generate temperature, pressure, vibration, RPM, humidity, oil level, voltage, current and power telemetry.
The challenge is converting this high-volume operational data into timely maintenance intelligence.</a:t>
            </a:r>
          </a:p>
        </p:txBody>
      </p:sp>
      <p:sp>
        <p:nvSpPr>
          <p:cNvPr id="8" name="TextBox 7"/>
          <p:cNvSpPr txBox="1"/>
          <p:nvPr/>
        </p:nvSpPr>
        <p:spPr>
          <a:xfrm>
            <a:off x="6400800" y="1490472"/>
            <a:ext cx="4892040" cy="353943"/>
          </a:xfrm>
          <a:prstGeom prst="rect">
            <a:avLst/>
          </a:prstGeom>
          <a:noFill/>
        </p:spPr>
        <p:txBody>
          <a:bodyPr wrap="square">
            <a:spAutoFit/>
          </a:bodyPr>
          <a:lstStyle/>
          <a:p>
            <a:pPr algn="ctr">
              <a:defRPr sz="1300" b="1">
                <a:solidFill>
                  <a:srgbClr val="703D3D"/>
                </a:solidFill>
                <a:latin typeface="Aptos"/>
              </a:defRPr>
            </a:pPr>
            <a:r>
              <a:rPr sz="1700" b="1" dirty="0">
                <a:solidFill>
                  <a:srgbClr val="000000"/>
                </a:solidFill>
                <a:latin typeface="Times New Roman"/>
              </a:rPr>
              <a:t>AI-BASED APPROACH</a:t>
            </a:r>
          </a:p>
        </p:txBody>
      </p:sp>
      <p:sp>
        <p:nvSpPr>
          <p:cNvPr id="9" name="TextBox 8"/>
          <p:cNvSpPr txBox="1"/>
          <p:nvPr/>
        </p:nvSpPr>
        <p:spPr>
          <a:xfrm>
            <a:off x="6400800" y="1856231"/>
            <a:ext cx="4892040" cy="1256754"/>
          </a:xfrm>
          <a:prstGeom prst="rect">
            <a:avLst/>
          </a:prstGeom>
          <a:noFill/>
          <a:ln>
            <a:solidFill>
              <a:schemeClr val="tx1">
                <a:lumMod val="40000"/>
                <a:lumOff val="60000"/>
              </a:schemeClr>
            </a:solidFill>
          </a:ln>
        </p:spPr>
        <p:txBody>
          <a:bodyPr wrap="square" lIns="25400" tIns="12700" rIns="25400" bIns="12700">
            <a:spAutoFit/>
          </a:bodyPr>
          <a:lstStyle/>
          <a:p>
            <a:pPr algn="l">
              <a:defRPr sz="1300" b="0">
                <a:solidFill>
                  <a:srgbClr val="3E2B2B"/>
                </a:solidFill>
                <a:latin typeface="Aptos"/>
              </a:defRPr>
            </a:pPr>
            <a:r>
              <a:rPr sz="1600" b="1" dirty="0">
                <a:solidFill>
                  <a:srgbClr val="000000"/>
                </a:solidFill>
                <a:latin typeface="Times New Roman"/>
              </a:rPr>
              <a:t>The AI-based approach learns patterns in telemetry, flags abnormal </a:t>
            </a:r>
            <a:r>
              <a:rPr sz="1600" b="1" dirty="0" err="1">
                <a:solidFill>
                  <a:srgbClr val="000000"/>
                </a:solidFill>
                <a:latin typeface="Times New Roman"/>
              </a:rPr>
              <a:t>behaviour</a:t>
            </a:r>
            <a:r>
              <a:rPr sz="1600" b="1" dirty="0">
                <a:solidFill>
                  <a:srgbClr val="000000"/>
                </a:solidFill>
                <a:latin typeface="Times New Roman"/>
              </a:rPr>
              <a:t>, estimates machine health and supports failure-risk prediction.
This connects monitoring, analytics and maintenance actions in a single operational workflow.</a:t>
            </a:r>
          </a:p>
        </p:txBody>
      </p:sp>
      <p:sp>
        <p:nvSpPr>
          <p:cNvPr id="11" name="TextBox 10"/>
          <p:cNvSpPr txBox="1"/>
          <p:nvPr/>
        </p:nvSpPr>
        <p:spPr>
          <a:xfrm>
            <a:off x="1143000" y="3704695"/>
            <a:ext cx="10424160" cy="353943"/>
          </a:xfrm>
          <a:prstGeom prst="rect">
            <a:avLst/>
          </a:prstGeom>
          <a:noFill/>
        </p:spPr>
        <p:txBody>
          <a:bodyPr wrap="square">
            <a:spAutoFit/>
          </a:bodyPr>
          <a:lstStyle/>
          <a:p>
            <a:pPr algn="ctr">
              <a:defRPr sz="1300" b="1">
                <a:solidFill>
                  <a:srgbClr val="703D3D"/>
                </a:solidFill>
                <a:latin typeface="Aptos"/>
              </a:defRPr>
            </a:pPr>
            <a:r>
              <a:rPr lang="en-IN" sz="1700" b="1" dirty="0">
                <a:solidFill>
                  <a:srgbClr val="000000"/>
                </a:solidFill>
                <a:latin typeface="Times New Roman"/>
              </a:rPr>
              <a:t>PROBLEM STATEMENT</a:t>
            </a:r>
            <a:endParaRPr sz="1700" dirty="0">
              <a:solidFill>
                <a:schemeClr val="tx1">
                  <a:lumMod val="95000"/>
                </a:schemeClr>
              </a:solidFill>
            </a:endParaRPr>
          </a:p>
        </p:txBody>
      </p:sp>
      <p:sp>
        <p:nvSpPr>
          <p:cNvPr id="12" name="TextBox 11"/>
          <p:cNvSpPr txBox="1"/>
          <p:nvPr/>
        </p:nvSpPr>
        <p:spPr>
          <a:xfrm>
            <a:off x="868680" y="4187952"/>
            <a:ext cx="10424160" cy="830997"/>
          </a:xfrm>
          <a:prstGeom prst="rect">
            <a:avLst/>
          </a:prstGeom>
          <a:noFill/>
          <a:ln>
            <a:solidFill>
              <a:schemeClr val="tx1">
                <a:lumMod val="40000"/>
                <a:lumOff val="60000"/>
              </a:schemeClr>
            </a:solidFill>
          </a:ln>
        </p:spPr>
        <p:txBody>
          <a:bodyPr wrap="square" lIns="25400" tIns="12700" rIns="25400" bIns="12700">
            <a:spAutoFit/>
          </a:bodyPr>
          <a:lstStyle/>
          <a:p>
            <a:pPr algn="l">
              <a:defRPr sz="1300" b="0">
                <a:solidFill>
                  <a:srgbClr val="3E2B2B"/>
                </a:solidFill>
                <a:latin typeface="Aptos"/>
              </a:defRPr>
            </a:pPr>
            <a:r>
              <a:rPr sz="1500" b="1">
                <a:solidFill>
                  <a:srgbClr val="000000"/>
                </a:solidFill>
                <a:latin typeface="Times New Roman"/>
              </a:rPr>
              <a:t>Unexpected failures interrupt production and can increase repair cost. Manual inspection alone makes continuous monitoring difficult. The system addresses this by turning telemetry and incident data into prioritized alerts and actionable maintenance information.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21174" y="320040"/>
            <a:ext cx="8919173" cy="769441"/>
          </a:xfrm>
          <a:prstGeom prst="rect">
            <a:avLst/>
          </a:prstGeom>
          <a:noFill/>
        </p:spPr>
        <p:txBody>
          <a:bodyPr wrap="none">
            <a:spAutoFit/>
          </a:bodyPr>
          <a:lstStyle/>
          <a:p>
            <a:pPr algn="l">
              <a:defRPr sz="2600" b="1">
                <a:solidFill>
                  <a:srgbClr val="3E2B2B"/>
                </a:solidFill>
                <a:latin typeface="Aptos Display"/>
              </a:defRPr>
            </a:pPr>
            <a:r>
              <a:rPr sz="3500" b="1" u="sng" dirty="0">
                <a:solidFill>
                  <a:srgbClr val="FFFFFF"/>
                </a:solidFill>
                <a:latin typeface="Times New Roman" panose="02020603050405020304" pitchFamily="18" charset="0"/>
                <a:cs typeface="Times New Roman" panose="02020603050405020304" pitchFamily="18" charset="0"/>
              </a:rPr>
              <a:t>2. Objectives &amp; System Architecture</a:t>
            </a:r>
          </a:p>
        </p:txBody>
      </p:sp>
      <p:sp>
        <p:nvSpPr>
          <p:cNvPr id="3" name="Rectangle 2"/>
          <p:cNvSpPr/>
          <p:nvPr/>
        </p:nvSpPr>
        <p:spPr>
          <a:xfrm>
            <a:off x="59436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02023" y="1312415"/>
            <a:ext cx="5029200" cy="3195747"/>
          </a:xfrm>
          <a:prstGeom prst="rect">
            <a:avLst/>
          </a:prstGeom>
          <a:noFill/>
        </p:spPr>
        <p:txBody>
          <a:bodyPr wrap="square" lIns="25400" tIns="12700" rIns="25400" bIns="12700">
            <a:spAutoFit/>
          </a:bodyPr>
          <a:lstStyle/>
          <a:p>
            <a:pPr algn="l">
              <a:spcAft>
                <a:spcPts val="1000"/>
              </a:spcAft>
              <a:defRPr sz="1400">
                <a:solidFill>
                  <a:srgbClr val="3E2B2B"/>
                </a:solidFill>
                <a:latin typeface="Aptos"/>
              </a:defRPr>
            </a:pPr>
            <a:r>
              <a:rPr sz="1500" b="1" dirty="0">
                <a:solidFill>
                  <a:srgbClr val="000000"/>
                </a:solidFill>
                <a:latin typeface="Times New Roman"/>
              </a:rPr>
              <a:t>OBJECTIVES
• Monitor machine condition and telemetry
• Detect abnormal operating </a:t>
            </a:r>
            <a:r>
              <a:rPr sz="1500" b="1" dirty="0" err="1">
                <a:solidFill>
                  <a:srgbClr val="000000"/>
                </a:solidFill>
                <a:latin typeface="Times New Roman"/>
              </a:rPr>
              <a:t>behaviour</a:t>
            </a:r>
            <a:r>
              <a:rPr sz="1500" b="1" dirty="0">
                <a:solidFill>
                  <a:srgbClr val="000000"/>
                </a:solidFill>
                <a:latin typeface="Times New Roman"/>
              </a:rPr>
              <a:t>
• Predict potential failure risk
• Score machine health for prioritization
• Track incidents, work orders and maintenance cost
• Provide APIs and dashboard-based decision support</a:t>
            </a:r>
          </a:p>
        </p:txBody>
      </p:sp>
      <p:sp>
        <p:nvSpPr>
          <p:cNvPr id="5" name="TextBox 4"/>
          <p:cNvSpPr txBox="1"/>
          <p:nvPr/>
        </p:nvSpPr>
        <p:spPr>
          <a:xfrm>
            <a:off x="6815228" y="1213730"/>
            <a:ext cx="5212080" cy="323165"/>
          </a:xfrm>
          <a:prstGeom prst="rect">
            <a:avLst/>
          </a:prstGeom>
          <a:noFill/>
        </p:spPr>
        <p:txBody>
          <a:bodyPr wrap="square">
            <a:spAutoFit/>
          </a:bodyPr>
          <a:lstStyle/>
          <a:p>
            <a:pPr>
              <a:defRPr sz="1500" b="1">
                <a:solidFill>
                  <a:srgbClr val="703D3D"/>
                </a:solidFill>
                <a:latin typeface="Aptos"/>
              </a:defRPr>
            </a:pPr>
            <a:r>
              <a:rPr b="1" dirty="0">
                <a:solidFill>
                  <a:srgbClr val="000000"/>
                </a:solidFill>
                <a:latin typeface="Times New Roman"/>
              </a:rPr>
              <a:t>SYSTEM ARCHITECTURE</a:t>
            </a:r>
          </a:p>
        </p:txBody>
      </p:sp>
      <p:sp>
        <p:nvSpPr>
          <p:cNvPr id="7" name="TextBox 6"/>
          <p:cNvSpPr txBox="1"/>
          <p:nvPr/>
        </p:nvSpPr>
        <p:spPr>
          <a:xfrm>
            <a:off x="6355080" y="1911206"/>
            <a:ext cx="4754879" cy="292388"/>
          </a:xfrm>
          <a:prstGeom prst="rect">
            <a:avLst/>
          </a:prstGeom>
          <a:noFill/>
        </p:spPr>
        <p:txBody>
          <a:bodyPr wrap="square" lIns="25400" tIns="12700" rIns="25400" bIns="12700">
            <a:spAutoFit/>
          </a:bodyPr>
          <a:lstStyle/>
          <a:p>
            <a:pPr algn="ctr">
              <a:defRPr sz="1300" b="1">
                <a:solidFill>
                  <a:srgbClr val="703D3D"/>
                </a:solidFill>
                <a:latin typeface="Aptos"/>
              </a:defRPr>
            </a:pPr>
            <a:r>
              <a:rPr sz="1200" b="1" dirty="0">
                <a:solidFill>
                  <a:srgbClr val="000000"/>
                </a:solidFill>
                <a:latin typeface="Times New Roman"/>
              </a:rPr>
              <a:t>Machine &amp; Sensor Data</a:t>
            </a:r>
            <a:endParaRPr dirty="0"/>
          </a:p>
        </p:txBody>
      </p:sp>
      <p:sp>
        <p:nvSpPr>
          <p:cNvPr id="8" name="TextBox 7"/>
          <p:cNvSpPr txBox="1"/>
          <p:nvPr/>
        </p:nvSpPr>
        <p:spPr>
          <a:xfrm>
            <a:off x="6518787" y="2387233"/>
            <a:ext cx="4754879" cy="292388"/>
          </a:xfrm>
          <a:prstGeom prst="rect">
            <a:avLst/>
          </a:prstGeom>
          <a:noFill/>
        </p:spPr>
        <p:txBody>
          <a:bodyPr wrap="square" lIns="25400" tIns="12700" rIns="25400" bIns="12700">
            <a:spAutoFit/>
          </a:bodyPr>
          <a:lstStyle/>
          <a:p>
            <a:pPr algn="ctr">
              <a:defRPr sz="1300" b="0">
                <a:solidFill>
                  <a:srgbClr val="3E2B2B"/>
                </a:solidFill>
                <a:latin typeface="Aptos"/>
              </a:defRPr>
            </a:pPr>
            <a:r>
              <a:rPr sz="1200" b="1" dirty="0">
                <a:solidFill>
                  <a:srgbClr val="000000"/>
                </a:solidFill>
                <a:latin typeface="Times New Roman"/>
              </a:rPr>
              <a:t>Telemetry + Incident Records</a:t>
            </a:r>
            <a:endParaRPr dirty="0"/>
          </a:p>
        </p:txBody>
      </p:sp>
      <p:sp>
        <p:nvSpPr>
          <p:cNvPr id="10" name="TextBox 9"/>
          <p:cNvSpPr txBox="1"/>
          <p:nvPr/>
        </p:nvSpPr>
        <p:spPr>
          <a:xfrm>
            <a:off x="6309360" y="2952215"/>
            <a:ext cx="4754879" cy="292388"/>
          </a:xfrm>
          <a:prstGeom prst="rect">
            <a:avLst/>
          </a:prstGeom>
          <a:noFill/>
        </p:spPr>
        <p:txBody>
          <a:bodyPr wrap="square" lIns="25400" tIns="12700" rIns="25400" bIns="12700">
            <a:spAutoFit/>
          </a:bodyPr>
          <a:lstStyle/>
          <a:p>
            <a:pPr algn="ctr">
              <a:defRPr sz="1300" b="1">
                <a:solidFill>
                  <a:srgbClr val="703D3D"/>
                </a:solidFill>
                <a:latin typeface="Aptos"/>
              </a:defRPr>
            </a:pPr>
            <a:r>
              <a:rPr sz="1200" b="1" dirty="0">
                <a:solidFill>
                  <a:srgbClr val="000000"/>
                </a:solidFill>
                <a:latin typeface="Times New Roman"/>
              </a:rPr>
              <a:t>Feature Engineering + ML</a:t>
            </a:r>
            <a:endParaRPr dirty="0"/>
          </a:p>
        </p:txBody>
      </p:sp>
      <p:sp>
        <p:nvSpPr>
          <p:cNvPr id="11" name="TextBox 10"/>
          <p:cNvSpPr txBox="1"/>
          <p:nvPr/>
        </p:nvSpPr>
        <p:spPr>
          <a:xfrm>
            <a:off x="6309360" y="3447068"/>
            <a:ext cx="4754879" cy="292388"/>
          </a:xfrm>
          <a:prstGeom prst="rect">
            <a:avLst/>
          </a:prstGeom>
          <a:noFill/>
        </p:spPr>
        <p:txBody>
          <a:bodyPr wrap="square" lIns="25400" tIns="12700" rIns="25400" bIns="12700">
            <a:spAutoFit/>
          </a:bodyPr>
          <a:lstStyle/>
          <a:p>
            <a:pPr algn="ctr">
              <a:defRPr sz="1300" b="0">
                <a:solidFill>
                  <a:srgbClr val="3E2B2B"/>
                </a:solidFill>
                <a:latin typeface="Aptos"/>
              </a:defRPr>
            </a:pPr>
            <a:r>
              <a:rPr sz="1200" b="1" dirty="0">
                <a:solidFill>
                  <a:srgbClr val="000000"/>
                </a:solidFill>
                <a:latin typeface="Times New Roman"/>
              </a:rPr>
              <a:t>Anomaly / Failure Prediction</a:t>
            </a:r>
            <a:endParaRPr dirty="0"/>
          </a:p>
        </p:txBody>
      </p:sp>
      <p:sp>
        <p:nvSpPr>
          <p:cNvPr id="13" name="TextBox 12"/>
          <p:cNvSpPr txBox="1"/>
          <p:nvPr/>
        </p:nvSpPr>
        <p:spPr>
          <a:xfrm>
            <a:off x="6518787" y="4067563"/>
            <a:ext cx="4545452" cy="210314"/>
          </a:xfrm>
          <a:prstGeom prst="rect">
            <a:avLst/>
          </a:prstGeom>
          <a:noFill/>
        </p:spPr>
        <p:txBody>
          <a:bodyPr wrap="square" lIns="25400" tIns="12700" rIns="25400" bIns="12700">
            <a:spAutoFit/>
          </a:bodyPr>
          <a:lstStyle/>
          <a:p>
            <a:pPr algn="ctr">
              <a:defRPr sz="1300" b="1">
                <a:solidFill>
                  <a:srgbClr val="703D3D"/>
                </a:solidFill>
                <a:latin typeface="Aptos"/>
              </a:defRPr>
            </a:pPr>
            <a:r>
              <a:rPr sz="1200" b="1" dirty="0">
                <a:solidFill>
                  <a:srgbClr val="000000"/>
                </a:solidFill>
                <a:latin typeface="Times New Roman"/>
              </a:rPr>
              <a:t>Health Score + Maintenance Decision</a:t>
            </a:r>
            <a:endParaRPr dirty="0"/>
          </a:p>
        </p:txBody>
      </p:sp>
      <p:sp>
        <p:nvSpPr>
          <p:cNvPr id="16" name="TextBox 15"/>
          <p:cNvSpPr txBox="1"/>
          <p:nvPr/>
        </p:nvSpPr>
        <p:spPr>
          <a:xfrm>
            <a:off x="3961416" y="4804648"/>
            <a:ext cx="4754879" cy="274320"/>
          </a:xfrm>
          <a:prstGeom prst="rect">
            <a:avLst/>
          </a:prstGeom>
          <a:noFill/>
        </p:spPr>
        <p:txBody>
          <a:bodyPr wrap="square" lIns="25400" tIns="12700" rIns="25400" bIns="12700">
            <a:spAutoFit/>
          </a:bodyPr>
          <a:lstStyle/>
          <a:p>
            <a:pPr algn="l">
              <a:defRPr sz="1300" b="1">
                <a:solidFill>
                  <a:srgbClr val="36A369"/>
                </a:solidFill>
                <a:latin typeface="Aptos"/>
              </a:defRPr>
            </a:pPr>
            <a:r>
              <a:rPr sz="1400" b="1" dirty="0">
                <a:solidFill>
                  <a:srgbClr val="000000"/>
                </a:solidFill>
                <a:latin typeface="Times New Roman"/>
              </a:rPr>
              <a:t>Presentation Layer</a:t>
            </a:r>
          </a:p>
        </p:txBody>
      </p:sp>
      <p:sp>
        <p:nvSpPr>
          <p:cNvPr id="17" name="TextBox 16"/>
          <p:cNvSpPr txBox="1"/>
          <p:nvPr/>
        </p:nvSpPr>
        <p:spPr>
          <a:xfrm>
            <a:off x="4053349" y="5246702"/>
            <a:ext cx="4754879" cy="91439"/>
          </a:xfrm>
          <a:prstGeom prst="rect">
            <a:avLst/>
          </a:prstGeom>
          <a:noFill/>
        </p:spPr>
        <p:txBody>
          <a:bodyPr wrap="square" lIns="25400" tIns="12700" rIns="25400" bIns="12700">
            <a:spAutoFit/>
          </a:bodyPr>
          <a:lstStyle/>
          <a:p>
            <a:pPr algn="l">
              <a:defRPr sz="1300" b="0">
                <a:solidFill>
                  <a:srgbClr val="3E2B2B"/>
                </a:solidFill>
                <a:latin typeface="Aptos"/>
              </a:defRPr>
            </a:pPr>
            <a:r>
              <a:rPr sz="1200" b="1" dirty="0">
                <a:solidFill>
                  <a:srgbClr val="000000"/>
                </a:solidFill>
                <a:latin typeface="Times New Roman"/>
              </a:rPr>
              <a:t>Backend APIs → Frontend Dashboard → Engineers</a:t>
            </a:r>
          </a:p>
        </p:txBody>
      </p:sp>
      <p:cxnSp>
        <p:nvCxnSpPr>
          <p:cNvPr id="18" name="Connector 17"/>
          <p:cNvCxnSpPr/>
          <p:nvPr/>
        </p:nvCxnSpPr>
        <p:spPr>
          <a:xfrm>
            <a:off x="8641080" y="2148840"/>
            <a:ext cx="0" cy="25603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641080" y="2697480"/>
            <a:ext cx="0" cy="25603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41080" y="3154680"/>
            <a:ext cx="0" cy="25603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41080" y="3703320"/>
            <a:ext cx="0" cy="25603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3CFD2E28-7765-852A-5379-B7295886B4AA}"/>
              </a:ext>
            </a:extLst>
          </p:cNvPr>
          <p:cNvSpPr/>
          <p:nvPr/>
        </p:nvSpPr>
        <p:spPr>
          <a:xfrm>
            <a:off x="6815228" y="1632107"/>
            <a:ext cx="3834581" cy="2831690"/>
          </a:xfrm>
          <a:prstGeom prst="rect">
            <a:avLst/>
          </a:prstGeom>
          <a:noFill/>
          <a:ln>
            <a:solidFill>
              <a:schemeClr val="tx1">
                <a:lumMod val="40000"/>
                <a:lumOff val="60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14" name="Rectangle 13">
            <a:extLst>
              <a:ext uri="{FF2B5EF4-FFF2-40B4-BE49-F238E27FC236}">
                <a16:creationId xmlns:a16="http://schemas.microsoft.com/office/drawing/2014/main" id="{59ADE5E9-B886-D1B5-871E-4682133AA421}"/>
              </a:ext>
            </a:extLst>
          </p:cNvPr>
          <p:cNvSpPr/>
          <p:nvPr/>
        </p:nvSpPr>
        <p:spPr>
          <a:xfrm>
            <a:off x="618695" y="1632107"/>
            <a:ext cx="4754879" cy="2831690"/>
          </a:xfrm>
          <a:prstGeom prst="rect">
            <a:avLst/>
          </a:prstGeom>
          <a:noFill/>
          <a:ln>
            <a:solidFill>
              <a:schemeClr val="tx1">
                <a:lumMod val="40000"/>
                <a:lumOff val="60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 name="Rectangle 21">
            <a:extLst>
              <a:ext uri="{FF2B5EF4-FFF2-40B4-BE49-F238E27FC236}">
                <a16:creationId xmlns:a16="http://schemas.microsoft.com/office/drawing/2014/main" id="{571C4B49-D4CF-ADD8-D8B2-2340F399E7FE}"/>
              </a:ext>
            </a:extLst>
          </p:cNvPr>
          <p:cNvSpPr/>
          <p:nvPr/>
        </p:nvSpPr>
        <p:spPr>
          <a:xfrm>
            <a:off x="3931919" y="5155389"/>
            <a:ext cx="3834581" cy="633458"/>
          </a:xfrm>
          <a:prstGeom prst="rect">
            <a:avLst/>
          </a:prstGeom>
          <a:noFill/>
          <a:ln>
            <a:solidFill>
              <a:schemeClr val="tx1">
                <a:lumMod val="40000"/>
                <a:lumOff val="60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57869" y="320040"/>
            <a:ext cx="8245783" cy="769441"/>
          </a:xfrm>
          <a:prstGeom prst="rect">
            <a:avLst/>
          </a:prstGeom>
          <a:noFill/>
        </p:spPr>
        <p:txBody>
          <a:bodyPr wrap="none">
            <a:spAutoFit/>
          </a:bodyPr>
          <a:lstStyle/>
          <a:p>
            <a:pPr algn="l">
              <a:defRPr sz="2600" b="1">
                <a:solidFill>
                  <a:srgbClr val="3E2B2B"/>
                </a:solidFill>
                <a:latin typeface="Aptos Display"/>
              </a:defRPr>
            </a:pPr>
            <a:r>
              <a:rPr sz="3500" b="1" u="sng" dirty="0">
                <a:solidFill>
                  <a:srgbClr val="FFFFFF"/>
                </a:solidFill>
                <a:latin typeface="Times New Roman" panose="02020603050405020304" pitchFamily="18" charset="0"/>
                <a:cs typeface="Times New Roman" panose="02020603050405020304" pitchFamily="18" charset="0"/>
              </a:rPr>
              <a:t>3. Frontend &amp; Application Access</a:t>
            </a:r>
          </a:p>
        </p:txBody>
      </p:sp>
      <p:sp>
        <p:nvSpPr>
          <p:cNvPr id="3" name="TextBox 2"/>
          <p:cNvSpPr txBox="1"/>
          <p:nvPr/>
        </p:nvSpPr>
        <p:spPr>
          <a:xfrm>
            <a:off x="2124464" y="1117428"/>
            <a:ext cx="6960542" cy="487313"/>
          </a:xfrm>
          <a:prstGeom prst="rect">
            <a:avLst/>
          </a:prstGeom>
          <a:noFill/>
        </p:spPr>
        <p:txBody>
          <a:bodyPr wrap="square" lIns="25400" tIns="12700" rIns="25400" bIns="12700">
            <a:spAutoFit/>
          </a:bodyPr>
          <a:lstStyle/>
          <a:p>
            <a:pPr algn="l">
              <a:defRPr sz="1100">
                <a:solidFill>
                  <a:srgbClr val="786C6C"/>
                </a:solidFill>
                <a:latin typeface="Aptos"/>
              </a:defRPr>
            </a:pPr>
            <a:r>
              <a:rPr sz="1500" b="1" dirty="0">
                <a:solidFill>
                  <a:srgbClr val="000000"/>
                </a:solidFill>
                <a:latin typeface="Times New Roman"/>
              </a:rPr>
              <a:t>Secure entry point for operational users, with role-aware access to monitoring and maintenance functions.</a:t>
            </a:r>
          </a:p>
        </p:txBody>
      </p:sp>
      <p:sp>
        <p:nvSpPr>
          <p:cNvPr id="4" name="Rectangle 3"/>
          <p:cNvSpPr/>
          <p:nvPr/>
        </p:nvSpPr>
        <p:spPr>
          <a:xfrm>
            <a:off x="59436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WhatsApp Image 2026-09-16 at 7.38.03 PM.jpeg"/>
          <p:cNvPicPr>
            <a:picLocks noChangeAspect="1"/>
          </p:cNvPicPr>
          <p:nvPr/>
        </p:nvPicPr>
        <p:blipFill>
          <a:blip r:embed="rId2"/>
          <a:stretch>
            <a:fillRect/>
          </a:stretch>
        </p:blipFill>
        <p:spPr>
          <a:xfrm>
            <a:off x="640080" y="2003550"/>
            <a:ext cx="5349240" cy="2530859"/>
          </a:xfrm>
          <a:prstGeom prst="rect">
            <a:avLst/>
          </a:prstGeom>
        </p:spPr>
      </p:pic>
      <p:pic>
        <p:nvPicPr>
          <p:cNvPr id="6" name="Picture 5" descr="WhatsApp Image 2026-09-16 at 7.40.51 PM.jpeg"/>
          <p:cNvPicPr>
            <a:picLocks noChangeAspect="1"/>
          </p:cNvPicPr>
          <p:nvPr/>
        </p:nvPicPr>
        <p:blipFill>
          <a:blip r:embed="rId3"/>
          <a:stretch>
            <a:fillRect/>
          </a:stretch>
        </p:blipFill>
        <p:spPr>
          <a:xfrm>
            <a:off x="6199632" y="1998535"/>
            <a:ext cx="5349240" cy="2540888"/>
          </a:xfrm>
          <a:prstGeom prst="rect">
            <a:avLst/>
          </a:prstGeom>
        </p:spPr>
      </p:pic>
      <p:sp>
        <p:nvSpPr>
          <p:cNvPr id="7" name="TextBox 6"/>
          <p:cNvSpPr txBox="1"/>
          <p:nvPr/>
        </p:nvSpPr>
        <p:spPr>
          <a:xfrm>
            <a:off x="731520" y="4970698"/>
            <a:ext cx="5120640" cy="502920"/>
          </a:xfrm>
          <a:prstGeom prst="rect">
            <a:avLst/>
          </a:prstGeom>
          <a:noFill/>
        </p:spPr>
        <p:txBody>
          <a:bodyPr wrap="square" lIns="25400" tIns="12700" rIns="25400" bIns="12700">
            <a:spAutoFit/>
          </a:bodyPr>
          <a:lstStyle/>
          <a:p>
            <a:pPr algn="l">
              <a:defRPr sz="1300" b="1">
                <a:solidFill>
                  <a:srgbClr val="703D3D"/>
                </a:solidFill>
                <a:latin typeface="Aptos"/>
              </a:defRPr>
            </a:pPr>
            <a:r>
              <a:rPr sz="1400" b="1" dirty="0">
                <a:solidFill>
                  <a:srgbClr val="000000"/>
                </a:solidFill>
                <a:latin typeface="Times New Roman"/>
              </a:rPr>
              <a:t>Login / role-based access
Authenticates the user before operational modules are exposed.</a:t>
            </a:r>
          </a:p>
        </p:txBody>
      </p:sp>
      <p:sp>
        <p:nvSpPr>
          <p:cNvPr id="8" name="TextBox 7"/>
          <p:cNvSpPr txBox="1"/>
          <p:nvPr/>
        </p:nvSpPr>
        <p:spPr>
          <a:xfrm>
            <a:off x="6199632" y="5007992"/>
            <a:ext cx="5120640" cy="502920"/>
          </a:xfrm>
          <a:prstGeom prst="rect">
            <a:avLst/>
          </a:prstGeom>
          <a:noFill/>
        </p:spPr>
        <p:txBody>
          <a:bodyPr wrap="square" lIns="25400" tIns="12700" rIns="25400" bIns="12700">
            <a:spAutoFit/>
          </a:bodyPr>
          <a:lstStyle/>
          <a:p>
            <a:pPr algn="l">
              <a:defRPr sz="1300" b="1">
                <a:solidFill>
                  <a:srgbClr val="703D3D"/>
                </a:solidFill>
                <a:latin typeface="Aptos"/>
              </a:defRPr>
            </a:pPr>
            <a:r>
              <a:rPr sz="1400" b="1" dirty="0">
                <a:solidFill>
                  <a:srgbClr val="000000"/>
                </a:solidFill>
                <a:latin typeface="Times New Roman"/>
              </a:rPr>
              <a:t>Operations Lead welcome screen
Provides a clear route into machine monitoring and maintenance workflows.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29322" y="105930"/>
            <a:ext cx="5933356" cy="707886"/>
          </a:xfrm>
          <a:prstGeom prst="rect">
            <a:avLst/>
          </a:prstGeom>
          <a:noFill/>
        </p:spPr>
        <p:txBody>
          <a:bodyPr wrap="none">
            <a:spAutoFit/>
          </a:bodyPr>
          <a:lstStyle/>
          <a:p>
            <a:pPr algn="ctr">
              <a:defRPr sz="2600" b="1">
                <a:solidFill>
                  <a:srgbClr val="3E2B2B"/>
                </a:solidFill>
                <a:latin typeface="Aptos Display"/>
              </a:defRPr>
            </a:pPr>
            <a:r>
              <a:rPr sz="3500" b="1" u="sng" dirty="0">
                <a:solidFill>
                  <a:srgbClr val="FFFFFF"/>
                </a:solidFill>
                <a:latin typeface="Times New Roman" panose="02020603050405020304" pitchFamily="18" charset="0"/>
                <a:cs typeface="Times New Roman" panose="02020603050405020304" pitchFamily="18" charset="0"/>
              </a:rPr>
              <a:t>4. Frontend — Dashboard</a:t>
            </a:r>
          </a:p>
        </p:txBody>
      </p:sp>
      <p:sp>
        <p:nvSpPr>
          <p:cNvPr id="3" name="TextBox 2"/>
          <p:cNvSpPr txBox="1"/>
          <p:nvPr/>
        </p:nvSpPr>
        <p:spPr>
          <a:xfrm>
            <a:off x="3372348" y="1091701"/>
            <a:ext cx="5933356" cy="456535"/>
          </a:xfrm>
          <a:prstGeom prst="rect">
            <a:avLst/>
          </a:prstGeom>
          <a:noFill/>
        </p:spPr>
        <p:txBody>
          <a:bodyPr wrap="square" lIns="25400" tIns="12700" rIns="25400" bIns="12700">
            <a:spAutoFit/>
          </a:bodyPr>
          <a:lstStyle/>
          <a:p>
            <a:pPr algn="l">
              <a:defRPr sz="1100">
                <a:solidFill>
                  <a:srgbClr val="786C6C"/>
                </a:solidFill>
                <a:latin typeface="Aptos"/>
              </a:defRPr>
            </a:pPr>
            <a:r>
              <a:rPr sz="1400" b="1" dirty="0">
                <a:solidFill>
                  <a:srgbClr val="000000"/>
                </a:solidFill>
                <a:latin typeface="Times New Roman"/>
              </a:rPr>
              <a:t>Central monitoring screen for factory operations </a:t>
            </a:r>
            <a:r>
              <a:rPr lang="en-IN" sz="1400" b="1" dirty="0">
                <a:solidFill>
                  <a:srgbClr val="000000"/>
                </a:solidFill>
                <a:latin typeface="Times New Roman"/>
              </a:rPr>
              <a:t>-</a:t>
            </a:r>
            <a:r>
              <a:rPr sz="1400" b="1" dirty="0">
                <a:solidFill>
                  <a:srgbClr val="000000"/>
                </a:solidFill>
                <a:latin typeface="Times New Roman"/>
              </a:rPr>
              <a:t>bringing machine status, telemetry trends, alerts and maintenance information together.</a:t>
            </a:r>
          </a:p>
        </p:txBody>
      </p:sp>
      <p:sp>
        <p:nvSpPr>
          <p:cNvPr id="4" name="Rectangle 3"/>
          <p:cNvSpPr/>
          <p:nvPr/>
        </p:nvSpPr>
        <p:spPr>
          <a:xfrm>
            <a:off x="59436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34813" y="5939367"/>
            <a:ext cx="5244526" cy="502920"/>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00000"/>
                </a:solidFill>
                <a:latin typeface="Times New Roman"/>
              </a:rPr>
              <a:t>Dashboard role: Observe → Interpret → Prioritize → Act</a:t>
            </a:r>
          </a:p>
        </p:txBody>
      </p:sp>
      <p:pic>
        <p:nvPicPr>
          <p:cNvPr id="8" name="Picture 7">
            <a:extLst>
              <a:ext uri="{FF2B5EF4-FFF2-40B4-BE49-F238E27FC236}">
                <a16:creationId xmlns:a16="http://schemas.microsoft.com/office/drawing/2014/main" id="{8043E317-BFDE-7559-393C-977FAB603D10}"/>
              </a:ext>
            </a:extLst>
          </p:cNvPr>
          <p:cNvPicPr>
            <a:picLocks noChangeAspect="1"/>
          </p:cNvPicPr>
          <p:nvPr/>
        </p:nvPicPr>
        <p:blipFill>
          <a:blip r:embed="rId2"/>
          <a:stretch>
            <a:fillRect/>
          </a:stretch>
        </p:blipFill>
        <p:spPr>
          <a:xfrm>
            <a:off x="2072444" y="1780821"/>
            <a:ext cx="8251427" cy="37736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7010252" cy="707886"/>
          </a:xfrm>
          <a:prstGeom prst="rect">
            <a:avLst/>
          </a:prstGeom>
          <a:noFill/>
        </p:spPr>
        <p:txBody>
          <a:bodyPr wrap="none">
            <a:spAutoFit/>
          </a:bodyPr>
          <a:lstStyle/>
          <a:p>
            <a:pPr algn="l">
              <a:defRPr sz="2600" b="1">
                <a:solidFill>
                  <a:srgbClr val="3E2B2B"/>
                </a:solidFill>
                <a:latin typeface="Aptos Display"/>
              </a:defRPr>
            </a:pPr>
            <a:r>
              <a:rPr sz="3500" b="1" u="sng" dirty="0">
                <a:solidFill>
                  <a:srgbClr val="FFFFFF"/>
                </a:solidFill>
                <a:latin typeface="Times New Roman" panose="02020603050405020304" pitchFamily="18" charset="0"/>
                <a:cs typeface="Times New Roman" panose="02020603050405020304" pitchFamily="18" charset="0"/>
              </a:rPr>
              <a:t>5. Fleet &amp; Machine Monitoring</a:t>
            </a:r>
          </a:p>
        </p:txBody>
      </p:sp>
      <p:sp>
        <p:nvSpPr>
          <p:cNvPr id="3" name="TextBox 2"/>
          <p:cNvSpPr txBox="1"/>
          <p:nvPr/>
        </p:nvSpPr>
        <p:spPr>
          <a:xfrm>
            <a:off x="612648" y="1082790"/>
            <a:ext cx="10972800" cy="320040"/>
          </a:xfrm>
          <a:prstGeom prst="rect">
            <a:avLst/>
          </a:prstGeom>
          <a:noFill/>
        </p:spPr>
        <p:txBody>
          <a:bodyPr wrap="square" lIns="25400" tIns="12700" rIns="25400" bIns="12700">
            <a:spAutoFit/>
          </a:bodyPr>
          <a:lstStyle/>
          <a:p>
            <a:pPr algn="l">
              <a:defRPr sz="1100">
                <a:solidFill>
                  <a:srgbClr val="786C6C"/>
                </a:solidFill>
                <a:latin typeface="Aptos"/>
              </a:defRPr>
            </a:pPr>
            <a:r>
              <a:rPr sz="1400" b="1" dirty="0">
                <a:solidFill>
                  <a:srgbClr val="000000"/>
                </a:solidFill>
                <a:latin typeface="Times New Roman"/>
              </a:rPr>
              <a:t>Asset registry, machine condition and operational status. Fleet-level visibility helps teams identify which assets require attention first.</a:t>
            </a:r>
          </a:p>
        </p:txBody>
      </p:sp>
      <p:sp>
        <p:nvSpPr>
          <p:cNvPr id="4" name="Rectangle 3"/>
          <p:cNvSpPr/>
          <p:nvPr/>
        </p:nvSpPr>
        <p:spPr>
          <a:xfrm>
            <a:off x="59436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WhatsApp Image 2026-09-16 at 7.40.51 PM (2).jpeg"/>
          <p:cNvPicPr>
            <a:picLocks noChangeAspect="1"/>
          </p:cNvPicPr>
          <p:nvPr/>
        </p:nvPicPr>
        <p:blipFill>
          <a:blip r:embed="rId2"/>
          <a:stretch>
            <a:fillRect/>
          </a:stretch>
        </p:blipFill>
        <p:spPr>
          <a:xfrm>
            <a:off x="2231923" y="1690968"/>
            <a:ext cx="7887352" cy="3822111"/>
          </a:xfrm>
          <a:prstGeom prst="rect">
            <a:avLst/>
          </a:prstGeom>
        </p:spPr>
      </p:pic>
      <p:sp>
        <p:nvSpPr>
          <p:cNvPr id="6" name="Rounded Rectangle 5"/>
          <p:cNvSpPr/>
          <p:nvPr/>
        </p:nvSpPr>
        <p:spPr>
          <a:xfrm>
            <a:off x="845820" y="5887983"/>
            <a:ext cx="3291840" cy="411480"/>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000000"/>
                </a:solidFill>
                <a:latin typeface="Times New Roman"/>
              </a:rPr>
              <a:t>Asset Registry</a:t>
            </a:r>
          </a:p>
        </p:txBody>
      </p:sp>
      <p:sp>
        <p:nvSpPr>
          <p:cNvPr id="7" name="Rounded Rectangle 6"/>
          <p:cNvSpPr/>
          <p:nvPr/>
        </p:nvSpPr>
        <p:spPr>
          <a:xfrm>
            <a:off x="4343398" y="5887983"/>
            <a:ext cx="3291840" cy="411480"/>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000000"/>
                </a:solidFill>
                <a:latin typeface="Times New Roman"/>
              </a:rPr>
              <a:t>Telemetry Monitoring</a:t>
            </a:r>
          </a:p>
        </p:txBody>
      </p:sp>
      <p:sp>
        <p:nvSpPr>
          <p:cNvPr id="8" name="Rounded Rectangle 7"/>
          <p:cNvSpPr/>
          <p:nvPr/>
        </p:nvSpPr>
        <p:spPr>
          <a:xfrm>
            <a:off x="7955279" y="5875693"/>
            <a:ext cx="3291840" cy="411480"/>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000000"/>
                </a:solidFill>
                <a:latin typeface="Times New Roman"/>
              </a:rPr>
              <a:t>Health &amp; Status</a:t>
            </a:r>
          </a:p>
        </p:txBody>
      </p:sp>
      <p:cxnSp>
        <p:nvCxnSpPr>
          <p:cNvPr id="10" name="Straight Connector 9">
            <a:extLst>
              <a:ext uri="{FF2B5EF4-FFF2-40B4-BE49-F238E27FC236}">
                <a16:creationId xmlns:a16="http://schemas.microsoft.com/office/drawing/2014/main" id="{AA2050EE-BE74-7AB3-27B9-C89EBE5A392A}"/>
              </a:ext>
            </a:extLst>
          </p:cNvPr>
          <p:cNvCxnSpPr>
            <a:cxnSpLocks/>
          </p:cNvCxnSpPr>
          <p:nvPr/>
        </p:nvCxnSpPr>
        <p:spPr>
          <a:xfrm>
            <a:off x="4127828" y="6093723"/>
            <a:ext cx="205738"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F184339-F6C6-0B39-7E27-F202F42C631B}"/>
              </a:ext>
            </a:extLst>
          </p:cNvPr>
          <p:cNvCxnSpPr>
            <a:cxnSpLocks/>
            <a:endCxn id="8" idx="1"/>
          </p:cNvCxnSpPr>
          <p:nvPr/>
        </p:nvCxnSpPr>
        <p:spPr>
          <a:xfrm flipV="1">
            <a:off x="7635238" y="6081433"/>
            <a:ext cx="320041" cy="1229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3328155" cy="492443"/>
          </a:xfrm>
          <a:prstGeom prst="rect">
            <a:avLst/>
          </a:prstGeom>
          <a:noFill/>
        </p:spPr>
        <p:txBody>
          <a:bodyPr wrap="none">
            <a:spAutoFit/>
          </a:bodyPr>
          <a:lstStyle/>
          <a:p>
            <a:pPr algn="l">
              <a:defRPr sz="2600" b="1">
                <a:solidFill>
                  <a:srgbClr val="3E2B2B"/>
                </a:solidFill>
                <a:latin typeface="Aptos Display"/>
              </a:defRPr>
            </a:pPr>
            <a:r>
              <a:rPr sz="3500" b="1" u="sng" dirty="0">
                <a:solidFill>
                  <a:srgbClr val="FFFFFF"/>
                </a:solidFill>
                <a:latin typeface="Times New Roman"/>
              </a:rPr>
              <a:t>6. Predictions &amp; Alerts</a:t>
            </a:r>
          </a:p>
        </p:txBody>
      </p:sp>
      <p:sp>
        <p:nvSpPr>
          <p:cNvPr id="3" name="TextBox 2"/>
          <p:cNvSpPr txBox="1"/>
          <p:nvPr/>
        </p:nvSpPr>
        <p:spPr>
          <a:xfrm>
            <a:off x="668593" y="1036653"/>
            <a:ext cx="8544232" cy="456535"/>
          </a:xfrm>
          <a:prstGeom prst="rect">
            <a:avLst/>
          </a:prstGeom>
          <a:noFill/>
        </p:spPr>
        <p:txBody>
          <a:bodyPr wrap="square" lIns="25400" tIns="12700" rIns="25400" bIns="12700">
            <a:spAutoFit/>
          </a:bodyPr>
          <a:lstStyle/>
          <a:p>
            <a:pPr algn="l">
              <a:defRPr sz="1100">
                <a:solidFill>
                  <a:srgbClr val="786C6C"/>
                </a:solidFill>
                <a:latin typeface="Aptos"/>
              </a:defRPr>
            </a:pPr>
            <a:r>
              <a:rPr sz="1400" b="1" dirty="0">
                <a:solidFill>
                  <a:srgbClr val="000000"/>
                </a:solidFill>
                <a:latin typeface="Times New Roman"/>
              </a:rPr>
              <a:t>Failure-risk visualization converts model output into a priority queue so maintenance teams can focus on machines showing abnormal or elevated-risk </a:t>
            </a:r>
            <a:r>
              <a:rPr sz="1400" b="1" dirty="0" err="1">
                <a:solidFill>
                  <a:srgbClr val="000000"/>
                </a:solidFill>
                <a:latin typeface="Times New Roman"/>
              </a:rPr>
              <a:t>behaviour</a:t>
            </a:r>
            <a:r>
              <a:rPr sz="1400" b="1" dirty="0">
                <a:solidFill>
                  <a:srgbClr val="000000"/>
                </a:solidFill>
                <a:latin typeface="Times New Roman"/>
              </a:rPr>
              <a:t>.</a:t>
            </a:r>
          </a:p>
        </p:txBody>
      </p:sp>
      <p:sp>
        <p:nvSpPr>
          <p:cNvPr id="4" name="Rectangle 3"/>
          <p:cNvSpPr/>
          <p:nvPr/>
        </p:nvSpPr>
        <p:spPr>
          <a:xfrm>
            <a:off x="59436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WhatsApp Image 2026-09-16 at 7.40.52 PM.jpeg"/>
          <p:cNvPicPr>
            <a:picLocks noChangeAspect="1"/>
          </p:cNvPicPr>
          <p:nvPr/>
        </p:nvPicPr>
        <p:blipFill>
          <a:blip r:embed="rId2"/>
          <a:stretch>
            <a:fillRect/>
          </a:stretch>
        </p:blipFill>
        <p:spPr>
          <a:xfrm>
            <a:off x="1061886" y="1857544"/>
            <a:ext cx="7059560" cy="3644498"/>
          </a:xfrm>
          <a:prstGeom prst="rect">
            <a:avLst/>
          </a:prstGeom>
        </p:spPr>
      </p:pic>
      <p:sp>
        <p:nvSpPr>
          <p:cNvPr id="6" name="Rounded Rectangle 5"/>
          <p:cNvSpPr/>
          <p:nvPr/>
        </p:nvSpPr>
        <p:spPr>
          <a:xfrm>
            <a:off x="8732520" y="2011680"/>
            <a:ext cx="2468880" cy="777240"/>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00000"/>
                </a:solidFill>
                <a:latin typeface="Times New Roman"/>
              </a:rPr>
              <a:t>Alert
Priority</a:t>
            </a:r>
          </a:p>
        </p:txBody>
      </p:sp>
      <p:cxnSp>
        <p:nvCxnSpPr>
          <p:cNvPr id="7" name="Connector 6"/>
          <p:cNvCxnSpPr>
            <a:cxnSpLocks/>
          </p:cNvCxnSpPr>
          <p:nvPr/>
        </p:nvCxnSpPr>
        <p:spPr>
          <a:xfrm flipV="1">
            <a:off x="9921240" y="2788920"/>
            <a:ext cx="0" cy="377067"/>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732520" y="3246120"/>
            <a:ext cx="2468880" cy="777240"/>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00000"/>
                </a:solidFill>
                <a:latin typeface="Times New Roman"/>
              </a:rPr>
              <a:t>Prediction
Record</a:t>
            </a:r>
          </a:p>
        </p:txBody>
      </p:sp>
      <p:sp>
        <p:nvSpPr>
          <p:cNvPr id="9" name="Rounded Rectangle 8"/>
          <p:cNvSpPr/>
          <p:nvPr/>
        </p:nvSpPr>
        <p:spPr>
          <a:xfrm>
            <a:off x="8732520" y="4480560"/>
            <a:ext cx="2468880" cy="777240"/>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00000"/>
                </a:solidFill>
                <a:latin typeface="Times New Roman"/>
              </a:rPr>
              <a:t>Maintenance
Action</a:t>
            </a:r>
          </a:p>
        </p:txBody>
      </p:sp>
      <p:cxnSp>
        <p:nvCxnSpPr>
          <p:cNvPr id="10" name="Connector 9"/>
          <p:cNvCxnSpPr/>
          <p:nvPr/>
        </p:nvCxnSpPr>
        <p:spPr>
          <a:xfrm>
            <a:off x="9918290" y="4041648"/>
            <a:ext cx="0" cy="43891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02920"/>
          </a:xfrm>
          <a:prstGeom prst="rect">
            <a:avLst/>
          </a:prstGeom>
          <a:noFill/>
        </p:spPr>
        <p:txBody>
          <a:bodyPr wrap="none">
            <a:spAutoFit/>
          </a:bodyPr>
          <a:lstStyle/>
          <a:p>
            <a:pPr algn="l">
              <a:defRPr sz="2600" b="1">
                <a:solidFill>
                  <a:srgbClr val="3E2B2B"/>
                </a:solidFill>
                <a:latin typeface="Aptos Display"/>
              </a:defRPr>
            </a:pPr>
            <a:r>
              <a:rPr sz="3500" b="1" u="sng">
                <a:solidFill>
                  <a:srgbClr val="FFFFFF"/>
                </a:solidFill>
                <a:latin typeface="Times New Roman"/>
              </a:rPr>
              <a:t>7. Maintenance Management</a:t>
            </a:r>
          </a:p>
        </p:txBody>
      </p:sp>
      <p:sp>
        <p:nvSpPr>
          <p:cNvPr id="3" name="TextBox 2"/>
          <p:cNvSpPr txBox="1"/>
          <p:nvPr/>
        </p:nvSpPr>
        <p:spPr>
          <a:xfrm>
            <a:off x="594360" y="1052619"/>
            <a:ext cx="7182107" cy="456535"/>
          </a:xfrm>
          <a:prstGeom prst="rect">
            <a:avLst/>
          </a:prstGeom>
          <a:noFill/>
        </p:spPr>
        <p:txBody>
          <a:bodyPr wrap="square" lIns="25400" tIns="12700" rIns="25400" bIns="12700">
            <a:spAutoFit/>
          </a:bodyPr>
          <a:lstStyle/>
          <a:p>
            <a:pPr algn="l">
              <a:defRPr sz="1100">
                <a:solidFill>
                  <a:srgbClr val="786C6C"/>
                </a:solidFill>
                <a:latin typeface="Aptos"/>
              </a:defRPr>
            </a:pPr>
            <a:r>
              <a:rPr sz="1400" b="1" dirty="0">
                <a:solidFill>
                  <a:srgbClr val="000000"/>
                </a:solidFill>
                <a:latin typeface="Times New Roman"/>
              </a:rPr>
              <a:t>Work orders connect detected maintenance needs with execution status and recorded cost, creating a traceable maintenance lifecycle.</a:t>
            </a:r>
          </a:p>
        </p:txBody>
      </p:sp>
      <p:sp>
        <p:nvSpPr>
          <p:cNvPr id="4" name="Rectangle 3"/>
          <p:cNvSpPr/>
          <p:nvPr/>
        </p:nvSpPr>
        <p:spPr>
          <a:xfrm>
            <a:off x="59436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WhatsApp Image 2026-09-16 at 7.40.52 PM (1).jpeg"/>
          <p:cNvPicPr>
            <a:picLocks noChangeAspect="1"/>
          </p:cNvPicPr>
          <p:nvPr/>
        </p:nvPicPr>
        <p:blipFill>
          <a:blip r:embed="rId2"/>
          <a:stretch>
            <a:fillRect/>
          </a:stretch>
        </p:blipFill>
        <p:spPr>
          <a:xfrm>
            <a:off x="2379407" y="1709169"/>
            <a:ext cx="7182107" cy="3700267"/>
          </a:xfrm>
          <a:prstGeom prst="rect">
            <a:avLst/>
          </a:prstGeom>
        </p:spPr>
      </p:pic>
      <p:sp>
        <p:nvSpPr>
          <p:cNvPr id="6" name="Rounded Rectangle 5"/>
          <p:cNvSpPr/>
          <p:nvPr/>
        </p:nvSpPr>
        <p:spPr>
          <a:xfrm>
            <a:off x="1619373" y="5959135"/>
            <a:ext cx="2468880" cy="384048"/>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000000"/>
                </a:solidFill>
                <a:latin typeface="Times New Roman"/>
              </a:rPr>
              <a:t>Issue Identified</a:t>
            </a:r>
          </a:p>
        </p:txBody>
      </p:sp>
      <p:sp>
        <p:nvSpPr>
          <p:cNvPr id="7" name="Rounded Rectangle 6"/>
          <p:cNvSpPr/>
          <p:nvPr/>
        </p:nvSpPr>
        <p:spPr>
          <a:xfrm>
            <a:off x="4553712" y="5945047"/>
            <a:ext cx="2468880" cy="384048"/>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000000"/>
                </a:solidFill>
                <a:latin typeface="Times New Roman"/>
              </a:rPr>
              <a:t>Work Order</a:t>
            </a:r>
          </a:p>
        </p:txBody>
      </p:sp>
      <p:sp>
        <p:nvSpPr>
          <p:cNvPr id="8" name="Rounded Rectangle 7"/>
          <p:cNvSpPr/>
          <p:nvPr/>
        </p:nvSpPr>
        <p:spPr>
          <a:xfrm>
            <a:off x="7424928" y="5945047"/>
            <a:ext cx="2834640" cy="384048"/>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000000"/>
                </a:solidFill>
                <a:latin typeface="Times New Roman"/>
              </a:rPr>
              <a:t>Status + Cost Record</a:t>
            </a:r>
          </a:p>
        </p:txBody>
      </p:sp>
      <p:cxnSp>
        <p:nvCxnSpPr>
          <p:cNvPr id="9" name="Connector 8"/>
          <p:cNvCxnSpPr>
            <a:cxnSpLocks/>
          </p:cNvCxnSpPr>
          <p:nvPr/>
        </p:nvCxnSpPr>
        <p:spPr>
          <a:xfrm>
            <a:off x="3962400" y="6157424"/>
            <a:ext cx="591312"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059168" y="6137071"/>
            <a:ext cx="329184"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02920"/>
          </a:xfrm>
          <a:prstGeom prst="rect">
            <a:avLst/>
          </a:prstGeom>
          <a:noFill/>
        </p:spPr>
        <p:txBody>
          <a:bodyPr wrap="none">
            <a:spAutoFit/>
          </a:bodyPr>
          <a:lstStyle/>
          <a:p>
            <a:pPr algn="l">
              <a:defRPr sz="2600" b="1">
                <a:solidFill>
                  <a:srgbClr val="3E2B2B"/>
                </a:solidFill>
                <a:latin typeface="Aptos Display"/>
              </a:defRPr>
            </a:pPr>
            <a:r>
              <a:rPr sz="3500" b="1" u="sng">
                <a:solidFill>
                  <a:srgbClr val="FFFFFF"/>
                </a:solidFill>
                <a:latin typeface="Times New Roman"/>
              </a:rPr>
              <a:t>8. Records &amp; Data Management</a:t>
            </a:r>
          </a:p>
        </p:txBody>
      </p:sp>
      <p:sp>
        <p:nvSpPr>
          <p:cNvPr id="3" name="TextBox 2"/>
          <p:cNvSpPr txBox="1"/>
          <p:nvPr/>
        </p:nvSpPr>
        <p:spPr>
          <a:xfrm>
            <a:off x="617466" y="1001465"/>
            <a:ext cx="8723179" cy="456535"/>
          </a:xfrm>
          <a:prstGeom prst="rect">
            <a:avLst/>
          </a:prstGeom>
          <a:noFill/>
        </p:spPr>
        <p:txBody>
          <a:bodyPr wrap="square" lIns="25400" tIns="12700" rIns="25400" bIns="12700">
            <a:spAutoFit/>
          </a:bodyPr>
          <a:lstStyle/>
          <a:p>
            <a:pPr algn="l">
              <a:defRPr sz="1100">
                <a:solidFill>
                  <a:srgbClr val="786C6C"/>
                </a:solidFill>
                <a:latin typeface="Aptos"/>
              </a:defRPr>
            </a:pPr>
            <a:r>
              <a:rPr sz="1400" b="1" dirty="0">
                <a:solidFill>
                  <a:srgbClr val="000000"/>
                </a:solidFill>
                <a:latin typeface="Times New Roman"/>
              </a:rPr>
              <a:t>Operational records provide the data foundation for analytics: machines, telemetry, incidents, maintenance activities and prediction outputs.</a:t>
            </a:r>
          </a:p>
        </p:txBody>
      </p:sp>
      <p:sp>
        <p:nvSpPr>
          <p:cNvPr id="4" name="Rectangle 3"/>
          <p:cNvSpPr/>
          <p:nvPr/>
        </p:nvSpPr>
        <p:spPr>
          <a:xfrm>
            <a:off x="59436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WhatsApp Image 2026-09-16 at 7.40.52 PM (2).jpeg"/>
          <p:cNvPicPr>
            <a:picLocks noChangeAspect="1"/>
          </p:cNvPicPr>
          <p:nvPr/>
        </p:nvPicPr>
        <p:blipFill>
          <a:blip r:embed="rId2"/>
          <a:stretch>
            <a:fillRect/>
          </a:stretch>
        </p:blipFill>
        <p:spPr>
          <a:xfrm>
            <a:off x="2227673" y="1693102"/>
            <a:ext cx="7736654" cy="3831338"/>
          </a:xfrm>
          <a:prstGeom prst="rect">
            <a:avLst/>
          </a:prstGeom>
        </p:spPr>
      </p:pic>
      <p:sp>
        <p:nvSpPr>
          <p:cNvPr id="6" name="Rounded Rectangle 5"/>
          <p:cNvSpPr/>
          <p:nvPr/>
        </p:nvSpPr>
        <p:spPr>
          <a:xfrm>
            <a:off x="1005840" y="5975604"/>
            <a:ext cx="1828800" cy="384048"/>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000000"/>
                </a:solidFill>
                <a:latin typeface="Times New Roman"/>
              </a:rPr>
              <a:t>Machines</a:t>
            </a:r>
          </a:p>
        </p:txBody>
      </p:sp>
      <p:sp>
        <p:nvSpPr>
          <p:cNvPr id="7" name="Rounded Rectangle 6"/>
          <p:cNvSpPr/>
          <p:nvPr/>
        </p:nvSpPr>
        <p:spPr>
          <a:xfrm>
            <a:off x="3063240" y="5975604"/>
            <a:ext cx="1828800" cy="384048"/>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000000"/>
                </a:solidFill>
                <a:latin typeface="Times New Roman"/>
              </a:rPr>
              <a:t>Telemetry</a:t>
            </a:r>
          </a:p>
        </p:txBody>
      </p:sp>
      <p:sp>
        <p:nvSpPr>
          <p:cNvPr id="8" name="Rounded Rectangle 7"/>
          <p:cNvSpPr/>
          <p:nvPr/>
        </p:nvSpPr>
        <p:spPr>
          <a:xfrm>
            <a:off x="5120640" y="5980176"/>
            <a:ext cx="1828800" cy="384048"/>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000000"/>
                </a:solidFill>
                <a:latin typeface="Times New Roman"/>
              </a:rPr>
              <a:t>Incidents</a:t>
            </a:r>
          </a:p>
        </p:txBody>
      </p:sp>
      <p:sp>
        <p:nvSpPr>
          <p:cNvPr id="9" name="Rounded Rectangle 8"/>
          <p:cNvSpPr/>
          <p:nvPr/>
        </p:nvSpPr>
        <p:spPr>
          <a:xfrm>
            <a:off x="7178040" y="5927954"/>
            <a:ext cx="1828800" cy="384048"/>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000000"/>
                </a:solidFill>
                <a:latin typeface="Times New Roman"/>
              </a:rPr>
              <a:t>Maintenance</a:t>
            </a:r>
          </a:p>
        </p:txBody>
      </p:sp>
      <p:sp>
        <p:nvSpPr>
          <p:cNvPr id="10" name="Rounded Rectangle 9"/>
          <p:cNvSpPr/>
          <p:nvPr/>
        </p:nvSpPr>
        <p:spPr>
          <a:xfrm>
            <a:off x="9166614" y="5927954"/>
            <a:ext cx="1828800" cy="384048"/>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000000"/>
                </a:solidFill>
                <a:latin typeface="Times New Roman"/>
              </a:rPr>
              <a:t>Predictions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0865" y="388619"/>
            <a:ext cx="3148491" cy="492443"/>
          </a:xfrm>
          <a:prstGeom prst="rect">
            <a:avLst/>
          </a:prstGeom>
          <a:noFill/>
        </p:spPr>
        <p:txBody>
          <a:bodyPr wrap="none">
            <a:spAutoFit/>
          </a:bodyPr>
          <a:lstStyle/>
          <a:p>
            <a:pPr algn="l">
              <a:defRPr sz="2600" b="1">
                <a:solidFill>
                  <a:srgbClr val="3E2B2B"/>
                </a:solidFill>
                <a:latin typeface="Aptos Display"/>
              </a:defRPr>
            </a:pPr>
            <a:r>
              <a:rPr sz="3500" b="1" u="sng" dirty="0">
                <a:solidFill>
                  <a:srgbClr val="FFFFFF"/>
                </a:solidFill>
                <a:latin typeface="Times New Roman"/>
              </a:rPr>
              <a:t>9. Backend Overview</a:t>
            </a:r>
          </a:p>
        </p:txBody>
      </p:sp>
      <p:sp>
        <p:nvSpPr>
          <p:cNvPr id="3" name="TextBox 2"/>
          <p:cNvSpPr txBox="1"/>
          <p:nvPr/>
        </p:nvSpPr>
        <p:spPr>
          <a:xfrm>
            <a:off x="1466039" y="1138385"/>
            <a:ext cx="9229442" cy="456535"/>
          </a:xfrm>
          <a:prstGeom prst="rect">
            <a:avLst/>
          </a:prstGeom>
          <a:noFill/>
        </p:spPr>
        <p:txBody>
          <a:bodyPr wrap="square" lIns="25400" tIns="12700" rIns="25400" bIns="12700">
            <a:spAutoFit/>
          </a:bodyPr>
          <a:lstStyle/>
          <a:p>
            <a:pPr algn="l">
              <a:defRPr sz="1100">
                <a:solidFill>
                  <a:srgbClr val="786C6C"/>
                </a:solidFill>
                <a:latin typeface="Aptos"/>
              </a:defRPr>
            </a:pPr>
            <a:r>
              <a:rPr sz="1400" b="1" dirty="0">
                <a:solidFill>
                  <a:srgbClr val="000000"/>
                </a:solidFill>
                <a:latin typeface="Times New Roman"/>
              </a:rPr>
              <a:t>Layered backend architecture keeps API handling, validation, business logic, persistence and ML analytics modular and maintainable.</a:t>
            </a:r>
          </a:p>
        </p:txBody>
      </p:sp>
      <p:sp>
        <p:nvSpPr>
          <p:cNvPr id="4" name="Rectangle 3"/>
          <p:cNvSpPr/>
          <p:nvPr/>
        </p:nvSpPr>
        <p:spPr>
          <a:xfrm>
            <a:off x="59436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98261" y="1975814"/>
            <a:ext cx="3063240" cy="274320"/>
          </a:xfrm>
          <a:prstGeom prst="rect">
            <a:avLst/>
          </a:prstGeom>
          <a:noFill/>
        </p:spPr>
        <p:txBody>
          <a:bodyPr wrap="square">
            <a:spAutoFit/>
          </a:bodyPr>
          <a:lstStyle/>
          <a:p>
            <a:pPr>
              <a:defRPr sz="1300" b="1">
                <a:solidFill>
                  <a:srgbClr val="703D3D"/>
                </a:solidFill>
                <a:latin typeface="Aptos"/>
              </a:defRPr>
            </a:pPr>
            <a:r>
              <a:rPr b="1">
                <a:solidFill>
                  <a:srgbClr val="000000"/>
                </a:solidFill>
                <a:latin typeface="Times New Roman"/>
              </a:rPr>
              <a:t>API LAYER</a:t>
            </a:r>
          </a:p>
        </p:txBody>
      </p:sp>
      <p:sp>
        <p:nvSpPr>
          <p:cNvPr id="7" name="TextBox 6"/>
          <p:cNvSpPr txBox="1"/>
          <p:nvPr/>
        </p:nvSpPr>
        <p:spPr>
          <a:xfrm>
            <a:off x="1311624" y="2338575"/>
            <a:ext cx="3063240" cy="804672"/>
          </a:xfrm>
          <a:prstGeom prst="rect">
            <a:avLst/>
          </a:prstGeom>
          <a:noFill/>
        </p:spPr>
        <p:txBody>
          <a:bodyPr wrap="square" lIns="25400" tIns="12700" rIns="25400" bIns="12700">
            <a:spAutoFit/>
          </a:bodyPr>
          <a:lstStyle/>
          <a:p>
            <a:pPr algn="l">
              <a:defRPr sz="1300" b="0">
                <a:solidFill>
                  <a:srgbClr val="3E2B2B"/>
                </a:solidFill>
                <a:latin typeface="Aptos"/>
              </a:defRPr>
            </a:pPr>
            <a:r>
              <a:rPr sz="1400" b="1" dirty="0">
                <a:solidFill>
                  <a:srgbClr val="000000"/>
                </a:solidFill>
                <a:latin typeface="Times New Roman"/>
              </a:rPr>
              <a:t>REST APIs
</a:t>
            </a:r>
            <a:r>
              <a:rPr sz="1400" b="1" dirty="0" err="1">
                <a:solidFill>
                  <a:srgbClr val="000000"/>
                </a:solidFill>
                <a:latin typeface="Times New Roman"/>
              </a:rPr>
              <a:t>FastAPI</a:t>
            </a:r>
            <a:r>
              <a:rPr sz="1400" b="1" dirty="0">
                <a:solidFill>
                  <a:srgbClr val="000000"/>
                </a:solidFill>
                <a:latin typeface="Times New Roman"/>
              </a:rPr>
              <a:t> + </a:t>
            </a:r>
            <a:r>
              <a:rPr sz="1400" b="1" dirty="0" err="1">
                <a:solidFill>
                  <a:srgbClr val="000000"/>
                </a:solidFill>
                <a:latin typeface="Times New Roman"/>
              </a:rPr>
              <a:t>Uvicorn</a:t>
            </a:r>
            <a:r>
              <a:rPr sz="1400" b="1" dirty="0">
                <a:solidFill>
                  <a:srgbClr val="000000"/>
                </a:solidFill>
                <a:latin typeface="Times New Roman"/>
              </a:rPr>
              <a:t>
Swagger documentation
Frontend communication</a:t>
            </a:r>
          </a:p>
        </p:txBody>
      </p:sp>
      <p:sp>
        <p:nvSpPr>
          <p:cNvPr id="9" name="TextBox 8"/>
          <p:cNvSpPr txBox="1"/>
          <p:nvPr/>
        </p:nvSpPr>
        <p:spPr>
          <a:xfrm>
            <a:off x="4793593" y="1899515"/>
            <a:ext cx="3063240" cy="274320"/>
          </a:xfrm>
          <a:prstGeom prst="rect">
            <a:avLst/>
          </a:prstGeom>
          <a:noFill/>
        </p:spPr>
        <p:txBody>
          <a:bodyPr wrap="square">
            <a:spAutoFit/>
          </a:bodyPr>
          <a:lstStyle/>
          <a:p>
            <a:pPr>
              <a:defRPr sz="1300" b="1">
                <a:solidFill>
                  <a:srgbClr val="703D3D"/>
                </a:solidFill>
                <a:latin typeface="Aptos"/>
              </a:defRPr>
            </a:pPr>
            <a:r>
              <a:rPr b="1">
                <a:solidFill>
                  <a:srgbClr val="000000"/>
                </a:solidFill>
                <a:latin typeface="Times New Roman"/>
              </a:rPr>
              <a:t>DATABASE</a:t>
            </a:r>
          </a:p>
        </p:txBody>
      </p:sp>
      <p:sp>
        <p:nvSpPr>
          <p:cNvPr id="10" name="TextBox 9"/>
          <p:cNvSpPr txBox="1"/>
          <p:nvPr/>
        </p:nvSpPr>
        <p:spPr>
          <a:xfrm>
            <a:off x="4793593" y="2250134"/>
            <a:ext cx="3063240" cy="804672"/>
          </a:xfrm>
          <a:prstGeom prst="rect">
            <a:avLst/>
          </a:prstGeom>
          <a:noFill/>
        </p:spPr>
        <p:txBody>
          <a:bodyPr wrap="square" lIns="25400" tIns="12700" rIns="25400" bIns="12700">
            <a:spAutoFit/>
          </a:bodyPr>
          <a:lstStyle/>
          <a:p>
            <a:pPr algn="l">
              <a:defRPr sz="1300" b="0">
                <a:solidFill>
                  <a:srgbClr val="3E2B2B"/>
                </a:solidFill>
                <a:latin typeface="Aptos"/>
              </a:defRPr>
            </a:pPr>
            <a:r>
              <a:rPr sz="1400" b="1" dirty="0">
                <a:solidFill>
                  <a:srgbClr val="000000"/>
                </a:solidFill>
                <a:latin typeface="Times New Roman"/>
              </a:rPr>
              <a:t>SQLite + </a:t>
            </a:r>
            <a:r>
              <a:rPr sz="1400" b="1" dirty="0" err="1">
                <a:solidFill>
                  <a:srgbClr val="000000"/>
                </a:solidFill>
                <a:latin typeface="Times New Roman"/>
              </a:rPr>
              <a:t>SQLAlchemy</a:t>
            </a:r>
            <a:r>
              <a:rPr sz="1400" b="1" dirty="0">
                <a:solidFill>
                  <a:srgbClr val="000000"/>
                </a:solidFill>
                <a:latin typeface="Times New Roman"/>
              </a:rPr>
              <a:t>
Machine data
Telemetry
Incidents &amp; maintenance
Prediction records</a:t>
            </a:r>
          </a:p>
        </p:txBody>
      </p:sp>
      <p:sp>
        <p:nvSpPr>
          <p:cNvPr id="12" name="TextBox 11"/>
          <p:cNvSpPr txBox="1"/>
          <p:nvPr/>
        </p:nvSpPr>
        <p:spPr>
          <a:xfrm>
            <a:off x="8421801" y="1905841"/>
            <a:ext cx="3063240" cy="274320"/>
          </a:xfrm>
          <a:prstGeom prst="rect">
            <a:avLst/>
          </a:prstGeom>
          <a:noFill/>
        </p:spPr>
        <p:txBody>
          <a:bodyPr wrap="square">
            <a:spAutoFit/>
          </a:bodyPr>
          <a:lstStyle/>
          <a:p>
            <a:pPr>
              <a:defRPr sz="1300" b="1">
                <a:solidFill>
                  <a:srgbClr val="703D3D"/>
                </a:solidFill>
                <a:latin typeface="Aptos"/>
              </a:defRPr>
            </a:pPr>
            <a:r>
              <a:rPr b="1" dirty="0">
                <a:solidFill>
                  <a:srgbClr val="000000"/>
                </a:solidFill>
                <a:latin typeface="Times New Roman"/>
              </a:rPr>
              <a:t>SERVICES</a:t>
            </a:r>
          </a:p>
        </p:txBody>
      </p:sp>
      <p:sp>
        <p:nvSpPr>
          <p:cNvPr id="13" name="TextBox 12"/>
          <p:cNvSpPr txBox="1"/>
          <p:nvPr/>
        </p:nvSpPr>
        <p:spPr>
          <a:xfrm>
            <a:off x="8421801" y="2260751"/>
            <a:ext cx="3063240" cy="804672"/>
          </a:xfrm>
          <a:prstGeom prst="rect">
            <a:avLst/>
          </a:prstGeom>
          <a:noFill/>
        </p:spPr>
        <p:txBody>
          <a:bodyPr wrap="square" lIns="25400" tIns="12700" rIns="25400" bIns="12700">
            <a:spAutoFit/>
          </a:bodyPr>
          <a:lstStyle/>
          <a:p>
            <a:pPr algn="l">
              <a:defRPr sz="1300" b="0">
                <a:solidFill>
                  <a:srgbClr val="3E2B2B"/>
                </a:solidFill>
                <a:latin typeface="Aptos"/>
              </a:defRPr>
            </a:pPr>
            <a:r>
              <a:rPr sz="1400" b="1" dirty="0">
                <a:solidFill>
                  <a:srgbClr val="000000"/>
                </a:solidFill>
                <a:latin typeface="Times New Roman"/>
              </a:rPr>
              <a:t>Service Layer
Health / anomaly
Prediction
Maintenance
Process business rules</a:t>
            </a:r>
          </a:p>
        </p:txBody>
      </p:sp>
      <p:sp>
        <p:nvSpPr>
          <p:cNvPr id="14" name="TextBox 13"/>
          <p:cNvSpPr txBox="1"/>
          <p:nvPr/>
        </p:nvSpPr>
        <p:spPr>
          <a:xfrm>
            <a:off x="960120" y="3843799"/>
            <a:ext cx="10241280" cy="584775"/>
          </a:xfrm>
          <a:prstGeom prst="rect">
            <a:avLst/>
          </a:prstGeom>
          <a:noFill/>
        </p:spPr>
        <p:txBody>
          <a:bodyPr wrap="square" lIns="25400" tIns="12700" rIns="25400" bIns="12700">
            <a:spAutoFit/>
          </a:bodyPr>
          <a:lstStyle/>
          <a:p>
            <a:pPr algn="l">
              <a:spcAft>
                <a:spcPts val="1000"/>
              </a:spcAft>
              <a:defRPr sz="1500">
                <a:solidFill>
                  <a:srgbClr val="3E2B2B"/>
                </a:solidFill>
                <a:latin typeface="Aptos"/>
              </a:defRPr>
            </a:pPr>
            <a:r>
              <a:rPr sz="1400" b="1" dirty="0">
                <a:solidFill>
                  <a:srgbClr val="000000"/>
                </a:solidFill>
                <a:latin typeface="Times New Roman"/>
              </a:rPr>
              <a:t>Backend flow:</a:t>
            </a:r>
            <a:endParaRPr lang="en-IN" sz="1400" b="1" dirty="0">
              <a:solidFill>
                <a:srgbClr val="000000"/>
              </a:solidFill>
              <a:latin typeface="Times New Roman"/>
            </a:endParaRPr>
          </a:p>
          <a:p>
            <a:pPr algn="l">
              <a:spcAft>
                <a:spcPts val="1000"/>
              </a:spcAft>
              <a:defRPr sz="1500">
                <a:solidFill>
                  <a:srgbClr val="3E2B2B"/>
                </a:solidFill>
                <a:latin typeface="Aptos"/>
              </a:defRPr>
            </a:pPr>
            <a:r>
              <a:rPr sz="1400" b="1" dirty="0">
                <a:solidFill>
                  <a:srgbClr val="000000"/>
                </a:solidFill>
                <a:latin typeface="Times New Roman"/>
              </a:rPr>
              <a:t>Frontend request → API endpoint → Schema validation → Service logic → Database / ML service → Structured response.</a:t>
            </a:r>
          </a:p>
        </p:txBody>
      </p:sp>
      <p:sp>
        <p:nvSpPr>
          <p:cNvPr id="15" name="Rounded Rectangle 14"/>
          <p:cNvSpPr/>
          <p:nvPr/>
        </p:nvSpPr>
        <p:spPr>
          <a:xfrm>
            <a:off x="822960" y="5715000"/>
            <a:ext cx="10241280" cy="502920"/>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000000"/>
                </a:solidFill>
                <a:latin typeface="Times New Roman"/>
              </a:rPr>
              <a:t>Python</a:t>
            </a:r>
            <a:r>
              <a:rPr lang="en-IN" sz="1200" b="1" dirty="0">
                <a:solidFill>
                  <a:srgbClr val="000000"/>
                </a:solidFill>
                <a:latin typeface="Times New Roman"/>
              </a:rPr>
              <a:t>         </a:t>
            </a:r>
            <a:r>
              <a:rPr sz="1200" b="1" dirty="0">
                <a:solidFill>
                  <a:srgbClr val="000000"/>
                </a:solidFill>
                <a:latin typeface="Times New Roman"/>
              </a:rPr>
              <a:t> | </a:t>
            </a:r>
            <a:r>
              <a:rPr lang="en-IN" sz="1200" b="1" dirty="0">
                <a:solidFill>
                  <a:srgbClr val="000000"/>
                </a:solidFill>
                <a:latin typeface="Times New Roman"/>
              </a:rPr>
              <a:t>      </a:t>
            </a:r>
            <a:r>
              <a:rPr sz="1200" b="1" dirty="0" err="1">
                <a:solidFill>
                  <a:srgbClr val="000000"/>
                </a:solidFill>
                <a:latin typeface="Times New Roman"/>
              </a:rPr>
              <a:t>FastAPI</a:t>
            </a:r>
            <a:r>
              <a:rPr lang="en-IN" sz="1200" b="1" dirty="0">
                <a:solidFill>
                  <a:srgbClr val="000000"/>
                </a:solidFill>
                <a:latin typeface="Times New Roman"/>
              </a:rPr>
              <a:t>       </a:t>
            </a:r>
            <a:r>
              <a:rPr sz="1200" b="1" dirty="0">
                <a:solidFill>
                  <a:srgbClr val="000000"/>
                </a:solidFill>
                <a:latin typeface="Times New Roman"/>
              </a:rPr>
              <a:t>|</a:t>
            </a:r>
            <a:r>
              <a:rPr lang="en-IN" sz="1200" b="1" dirty="0">
                <a:solidFill>
                  <a:srgbClr val="000000"/>
                </a:solidFill>
                <a:latin typeface="Times New Roman"/>
              </a:rPr>
              <a:t>          </a:t>
            </a:r>
            <a:r>
              <a:rPr sz="1200" b="1" dirty="0">
                <a:solidFill>
                  <a:srgbClr val="000000"/>
                </a:solidFill>
                <a:latin typeface="Times New Roman"/>
              </a:rPr>
              <a:t> </a:t>
            </a:r>
            <a:r>
              <a:rPr sz="1200" b="1" dirty="0" err="1">
                <a:solidFill>
                  <a:srgbClr val="000000"/>
                </a:solidFill>
                <a:latin typeface="Times New Roman"/>
              </a:rPr>
              <a:t>SQLAlchemy</a:t>
            </a:r>
            <a:r>
              <a:rPr sz="1200" b="1" dirty="0">
                <a:solidFill>
                  <a:srgbClr val="000000"/>
                </a:solidFill>
                <a:latin typeface="Times New Roman"/>
              </a:rPr>
              <a:t> </a:t>
            </a:r>
            <a:r>
              <a:rPr lang="en-IN" sz="1200" b="1" dirty="0">
                <a:solidFill>
                  <a:srgbClr val="000000"/>
                </a:solidFill>
                <a:latin typeface="Times New Roman"/>
              </a:rPr>
              <a:t>       </a:t>
            </a:r>
            <a:r>
              <a:rPr sz="1200" b="1" dirty="0">
                <a:solidFill>
                  <a:srgbClr val="000000"/>
                </a:solidFill>
                <a:latin typeface="Times New Roman"/>
              </a:rPr>
              <a:t>|</a:t>
            </a:r>
            <a:r>
              <a:rPr lang="en-IN" sz="1200" b="1" dirty="0">
                <a:solidFill>
                  <a:srgbClr val="000000"/>
                </a:solidFill>
                <a:latin typeface="Times New Roman"/>
              </a:rPr>
              <a:t>      </a:t>
            </a:r>
            <a:r>
              <a:rPr sz="1200" b="1" dirty="0">
                <a:solidFill>
                  <a:srgbClr val="000000"/>
                </a:solidFill>
                <a:latin typeface="Times New Roman"/>
              </a:rPr>
              <a:t> SQLite </a:t>
            </a:r>
            <a:r>
              <a:rPr lang="en-IN" sz="1200" b="1" dirty="0">
                <a:solidFill>
                  <a:srgbClr val="000000"/>
                </a:solidFill>
                <a:latin typeface="Times New Roman"/>
              </a:rPr>
              <a:t>      </a:t>
            </a:r>
            <a:r>
              <a:rPr sz="1200" b="1" dirty="0">
                <a:solidFill>
                  <a:srgbClr val="000000"/>
                </a:solidFill>
                <a:latin typeface="Times New Roman"/>
              </a:rPr>
              <a:t>|</a:t>
            </a:r>
            <a:r>
              <a:rPr lang="en-IN" sz="1200" b="1" dirty="0">
                <a:solidFill>
                  <a:srgbClr val="000000"/>
                </a:solidFill>
                <a:latin typeface="Times New Roman"/>
              </a:rPr>
              <a:t>      </a:t>
            </a:r>
            <a:r>
              <a:rPr sz="1200" b="1" dirty="0">
                <a:solidFill>
                  <a:srgbClr val="000000"/>
                </a:solidFill>
                <a:latin typeface="Times New Roman"/>
              </a:rPr>
              <a:t> Pandas</a:t>
            </a:r>
            <a:r>
              <a:rPr lang="en-IN" sz="1200" b="1" dirty="0">
                <a:solidFill>
                  <a:srgbClr val="000000"/>
                </a:solidFill>
                <a:latin typeface="Times New Roman"/>
              </a:rPr>
              <a:t>      </a:t>
            </a:r>
            <a:r>
              <a:rPr sz="1200" b="1" dirty="0">
                <a:solidFill>
                  <a:srgbClr val="000000"/>
                </a:solidFill>
                <a:latin typeface="Times New Roman"/>
              </a:rPr>
              <a:t> |</a:t>
            </a:r>
            <a:r>
              <a:rPr lang="en-IN" sz="1200" b="1" dirty="0">
                <a:solidFill>
                  <a:srgbClr val="000000"/>
                </a:solidFill>
                <a:latin typeface="Times New Roman"/>
              </a:rPr>
              <a:t>     </a:t>
            </a:r>
            <a:r>
              <a:rPr sz="1200" b="1" dirty="0">
                <a:solidFill>
                  <a:srgbClr val="000000"/>
                </a:solidFill>
                <a:latin typeface="Times New Roman"/>
              </a:rPr>
              <a:t> NumPy</a:t>
            </a:r>
            <a:r>
              <a:rPr lang="en-IN" sz="1200" b="1" dirty="0">
                <a:solidFill>
                  <a:srgbClr val="000000"/>
                </a:solidFill>
                <a:latin typeface="Times New Roman"/>
              </a:rPr>
              <a:t>   </a:t>
            </a:r>
            <a:r>
              <a:rPr sz="1200" b="1" dirty="0">
                <a:solidFill>
                  <a:srgbClr val="000000"/>
                </a:solidFill>
                <a:latin typeface="Times New Roman"/>
              </a:rPr>
              <a:t> |</a:t>
            </a:r>
            <a:r>
              <a:rPr lang="en-IN" sz="1200" b="1" dirty="0">
                <a:solidFill>
                  <a:srgbClr val="000000"/>
                </a:solidFill>
                <a:latin typeface="Times New Roman"/>
              </a:rPr>
              <a:t>     </a:t>
            </a:r>
            <a:r>
              <a:rPr sz="1200" b="1" dirty="0">
                <a:solidFill>
                  <a:srgbClr val="000000"/>
                </a:solidFill>
                <a:latin typeface="Times New Roman"/>
              </a:rPr>
              <a:t> Scikit-learn</a:t>
            </a:r>
            <a:r>
              <a:rPr lang="en-IN" sz="1200" b="1" dirty="0">
                <a:solidFill>
                  <a:srgbClr val="000000"/>
                </a:solidFill>
                <a:latin typeface="Times New Roman"/>
              </a:rPr>
              <a:t>     </a:t>
            </a:r>
            <a:r>
              <a:rPr sz="1200" b="1" dirty="0">
                <a:solidFill>
                  <a:srgbClr val="000000"/>
                </a:solidFill>
                <a:latin typeface="Times New Roman"/>
              </a:rPr>
              <a:t> | </a:t>
            </a:r>
            <a:r>
              <a:rPr lang="en-IN" sz="1200" b="1" dirty="0">
                <a:solidFill>
                  <a:srgbClr val="000000"/>
                </a:solidFill>
                <a:latin typeface="Times New Roman"/>
              </a:rPr>
              <a:t>        </a:t>
            </a:r>
            <a:r>
              <a:rPr sz="1200" b="1" dirty="0" err="1">
                <a:solidFill>
                  <a:srgbClr val="000000"/>
                </a:solidFill>
                <a:latin typeface="Times New Roman"/>
              </a:rPr>
              <a:t>XGBoost</a:t>
            </a:r>
            <a:endParaRPr sz="1200" b="1" dirty="0">
              <a:solidFill>
                <a:srgbClr val="000000"/>
              </a:solidFill>
              <a:latin typeface="Times New Roman"/>
            </a:endParaRPr>
          </a:p>
        </p:txBody>
      </p:sp>
      <p:sp>
        <p:nvSpPr>
          <p:cNvPr id="8" name="TextBox 7">
            <a:extLst>
              <a:ext uri="{FF2B5EF4-FFF2-40B4-BE49-F238E27FC236}">
                <a16:creationId xmlns:a16="http://schemas.microsoft.com/office/drawing/2014/main" id="{490AC485-A5E0-2927-8641-73A5388741FB}"/>
              </a:ext>
            </a:extLst>
          </p:cNvPr>
          <p:cNvSpPr txBox="1"/>
          <p:nvPr/>
        </p:nvSpPr>
        <p:spPr>
          <a:xfrm>
            <a:off x="948272" y="4575638"/>
            <a:ext cx="9747209" cy="738664"/>
          </a:xfrm>
          <a:prstGeom prst="rect">
            <a:avLst/>
          </a:prstGeom>
          <a:noFill/>
        </p:spPr>
        <p:txBody>
          <a:bodyPr wrap="square">
            <a:spAutoFit/>
          </a:bodyPr>
          <a:lstStyle/>
          <a:p>
            <a:r>
              <a:rPr lang="en-US" sz="1400" b="1" dirty="0">
                <a:solidFill>
                  <a:srgbClr val="000000"/>
                </a:solidFill>
                <a:latin typeface="Times New Roman"/>
              </a:rPr>
              <a:t>
ML integration: telemetry data is prepared and transformed into model-ready features, predictions are returned to the application, and results are exposed through APIs for dashboard consumption.</a:t>
            </a:r>
            <a:endParaRPr lang="en-IN" dirty="0"/>
          </a:p>
        </p:txBody>
      </p:sp>
      <p:sp>
        <p:nvSpPr>
          <p:cNvPr id="11" name="Rectangle 10">
            <a:extLst>
              <a:ext uri="{FF2B5EF4-FFF2-40B4-BE49-F238E27FC236}">
                <a16:creationId xmlns:a16="http://schemas.microsoft.com/office/drawing/2014/main" id="{D1F71AA9-6030-CF09-0EB9-D59E03D98093}"/>
              </a:ext>
            </a:extLst>
          </p:cNvPr>
          <p:cNvSpPr/>
          <p:nvPr/>
        </p:nvSpPr>
        <p:spPr>
          <a:xfrm>
            <a:off x="1117434" y="1779681"/>
            <a:ext cx="2762865" cy="1694597"/>
          </a:xfrm>
          <a:prstGeom prst="rect">
            <a:avLst/>
          </a:prstGeom>
          <a:noFill/>
          <a:ln>
            <a:solidFill>
              <a:schemeClr val="tx1">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178BEDF0-25D6-63C3-6678-DFE5BB90EC05}"/>
              </a:ext>
            </a:extLst>
          </p:cNvPr>
          <p:cNvSpPr/>
          <p:nvPr/>
        </p:nvSpPr>
        <p:spPr>
          <a:xfrm>
            <a:off x="4562579" y="1788623"/>
            <a:ext cx="2762865" cy="1694597"/>
          </a:xfrm>
          <a:prstGeom prst="rect">
            <a:avLst/>
          </a:prstGeom>
          <a:noFill/>
          <a:ln>
            <a:solidFill>
              <a:schemeClr val="tx1">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36A2880A-25E0-42F6-618B-3376499EE59A}"/>
              </a:ext>
            </a:extLst>
          </p:cNvPr>
          <p:cNvSpPr/>
          <p:nvPr/>
        </p:nvSpPr>
        <p:spPr>
          <a:xfrm>
            <a:off x="8087847" y="1779680"/>
            <a:ext cx="2762865" cy="1694597"/>
          </a:xfrm>
          <a:prstGeom prst="rect">
            <a:avLst/>
          </a:prstGeom>
          <a:noFill/>
          <a:ln>
            <a:solidFill>
              <a:schemeClr val="tx1">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9A7D6A9B-42DA-00E9-38F7-30C3B4425274}"/>
              </a:ext>
            </a:extLst>
          </p:cNvPr>
          <p:cNvSpPr/>
          <p:nvPr/>
        </p:nvSpPr>
        <p:spPr>
          <a:xfrm>
            <a:off x="948272" y="4078562"/>
            <a:ext cx="9393249" cy="495278"/>
          </a:xfrm>
          <a:prstGeom prst="rect">
            <a:avLst/>
          </a:prstGeom>
          <a:noFill/>
          <a:ln>
            <a:solidFill>
              <a:schemeClr val="tx1">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02920"/>
          </a:xfrm>
          <a:prstGeom prst="rect">
            <a:avLst/>
          </a:prstGeom>
          <a:noFill/>
        </p:spPr>
        <p:txBody>
          <a:bodyPr wrap="none">
            <a:spAutoFit/>
          </a:bodyPr>
          <a:lstStyle/>
          <a:p>
            <a:pPr algn="l">
              <a:defRPr sz="2600" b="1">
                <a:solidFill>
                  <a:srgbClr val="3E2B2B"/>
                </a:solidFill>
                <a:latin typeface="Aptos Display"/>
              </a:defRPr>
            </a:pPr>
            <a:r>
              <a:rPr sz="3500" b="1" u="sng">
                <a:solidFill>
                  <a:srgbClr val="FFFFFF"/>
                </a:solidFill>
                <a:latin typeface="Times New Roman"/>
              </a:rPr>
              <a:t>10. AI/ML Module &amp; System Workflow</a:t>
            </a:r>
          </a:p>
        </p:txBody>
      </p:sp>
      <p:sp>
        <p:nvSpPr>
          <p:cNvPr id="3" name="Rectangle 2"/>
          <p:cNvSpPr/>
          <p:nvPr/>
        </p:nvSpPr>
        <p:spPr>
          <a:xfrm>
            <a:off x="59436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85800" y="1417320"/>
            <a:ext cx="2514600" cy="1325880"/>
          </a:xfrm>
          <a:prstGeom prst="roundRect">
            <a:avLst/>
          </a:prstGeom>
          <a:solidFill>
            <a:srgbClr val="FFFFFF"/>
          </a:solidFill>
          <a:ln>
            <a:solidFill>
              <a:srgbClr val="E1D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chemeClr val="accent1">
                  <a:lumMod val="40000"/>
                  <a:lumOff val="60000"/>
                </a:schemeClr>
              </a:solidFill>
            </a:endParaRPr>
          </a:p>
        </p:txBody>
      </p:sp>
      <p:sp>
        <p:nvSpPr>
          <p:cNvPr id="6" name="TextBox 5"/>
          <p:cNvSpPr txBox="1"/>
          <p:nvPr/>
        </p:nvSpPr>
        <p:spPr>
          <a:xfrm>
            <a:off x="868680" y="1947672"/>
            <a:ext cx="2148840" cy="667512"/>
          </a:xfrm>
          <a:prstGeom prst="rect">
            <a:avLst/>
          </a:prstGeom>
          <a:noFill/>
        </p:spPr>
        <p:txBody>
          <a:bodyPr wrap="square">
            <a:spAutoFit/>
          </a:bodyPr>
          <a:lstStyle/>
          <a:p>
            <a:pPr>
              <a:defRPr sz="1300" b="0">
                <a:solidFill>
                  <a:srgbClr val="3E2B2B"/>
                </a:solidFill>
                <a:latin typeface="Aptos"/>
              </a:defRPr>
            </a:pPr>
            <a:r>
              <a:rPr b="1" dirty="0">
                <a:solidFill>
                  <a:srgbClr val="000000"/>
                </a:solidFill>
                <a:latin typeface="Times New Roman"/>
              </a:rPr>
              <a:t>1  Collect telemetry data</a:t>
            </a:r>
          </a:p>
        </p:txBody>
      </p:sp>
      <p:sp>
        <p:nvSpPr>
          <p:cNvPr id="7" name="Rounded Rectangle 6"/>
          <p:cNvSpPr/>
          <p:nvPr/>
        </p:nvSpPr>
        <p:spPr>
          <a:xfrm>
            <a:off x="3474720" y="1417320"/>
            <a:ext cx="2514600" cy="1325880"/>
          </a:xfrm>
          <a:prstGeom prst="roundRect">
            <a:avLst/>
          </a:prstGeom>
          <a:solidFill>
            <a:srgbClr val="FFFFFF"/>
          </a:solidFill>
          <a:ln>
            <a:solidFill>
              <a:srgbClr val="E1D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0" y="1947672"/>
            <a:ext cx="2148840" cy="667512"/>
          </a:xfrm>
          <a:prstGeom prst="rect">
            <a:avLst/>
          </a:prstGeom>
          <a:noFill/>
        </p:spPr>
        <p:txBody>
          <a:bodyPr wrap="square">
            <a:spAutoFit/>
          </a:bodyPr>
          <a:lstStyle/>
          <a:p>
            <a:pPr>
              <a:defRPr sz="1300" b="0">
                <a:solidFill>
                  <a:srgbClr val="3E2B2B"/>
                </a:solidFill>
                <a:latin typeface="Aptos"/>
              </a:defRPr>
            </a:pPr>
            <a:r>
              <a:rPr b="1" dirty="0">
                <a:solidFill>
                  <a:srgbClr val="000000"/>
                </a:solidFill>
                <a:latin typeface="Times New Roman"/>
              </a:rPr>
              <a:t>2  Store &amp; preprocess</a:t>
            </a:r>
          </a:p>
        </p:txBody>
      </p:sp>
      <p:sp>
        <p:nvSpPr>
          <p:cNvPr id="10" name="Rounded Rectangle 9"/>
          <p:cNvSpPr/>
          <p:nvPr/>
        </p:nvSpPr>
        <p:spPr>
          <a:xfrm>
            <a:off x="6263640" y="1417320"/>
            <a:ext cx="2514600" cy="1325880"/>
          </a:xfrm>
          <a:prstGeom prst="roundRect">
            <a:avLst/>
          </a:prstGeom>
          <a:solidFill>
            <a:srgbClr val="FFFFFF"/>
          </a:solidFill>
          <a:ln>
            <a:solidFill>
              <a:srgbClr val="E1D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947672"/>
            <a:ext cx="2148840" cy="667512"/>
          </a:xfrm>
          <a:prstGeom prst="rect">
            <a:avLst/>
          </a:prstGeom>
          <a:noFill/>
        </p:spPr>
        <p:txBody>
          <a:bodyPr wrap="square">
            <a:spAutoFit/>
          </a:bodyPr>
          <a:lstStyle/>
          <a:p>
            <a:pPr>
              <a:defRPr sz="1300" b="0">
                <a:solidFill>
                  <a:srgbClr val="3E2B2B"/>
                </a:solidFill>
                <a:latin typeface="Aptos"/>
              </a:defRPr>
            </a:pPr>
            <a:r>
              <a:rPr b="1">
                <a:solidFill>
                  <a:srgbClr val="000000"/>
                </a:solidFill>
                <a:latin typeface="Times New Roman"/>
              </a:rPr>
              <a:t>3  Feature analysis</a:t>
            </a:r>
          </a:p>
        </p:txBody>
      </p:sp>
      <p:sp>
        <p:nvSpPr>
          <p:cNvPr id="13" name="Rounded Rectangle 12"/>
          <p:cNvSpPr/>
          <p:nvPr/>
        </p:nvSpPr>
        <p:spPr>
          <a:xfrm>
            <a:off x="9052559" y="1417320"/>
            <a:ext cx="2514600" cy="1325880"/>
          </a:xfrm>
          <a:prstGeom prst="roundRect">
            <a:avLst/>
          </a:prstGeom>
          <a:solidFill>
            <a:srgbClr val="FFFFFF"/>
          </a:solidFill>
          <a:ln>
            <a:solidFill>
              <a:srgbClr val="E1D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39" y="1947672"/>
            <a:ext cx="2148840" cy="667512"/>
          </a:xfrm>
          <a:prstGeom prst="rect">
            <a:avLst/>
          </a:prstGeom>
          <a:noFill/>
        </p:spPr>
        <p:txBody>
          <a:bodyPr wrap="square">
            <a:spAutoFit/>
          </a:bodyPr>
          <a:lstStyle/>
          <a:p>
            <a:pPr>
              <a:defRPr sz="1300" b="0">
                <a:solidFill>
                  <a:srgbClr val="3E2B2B"/>
                </a:solidFill>
                <a:latin typeface="Aptos"/>
              </a:defRPr>
            </a:pPr>
            <a:r>
              <a:rPr b="1">
                <a:solidFill>
                  <a:srgbClr val="000000"/>
                </a:solidFill>
                <a:latin typeface="Times New Roman"/>
              </a:rPr>
              <a:t>4  Detect anomalies</a:t>
            </a:r>
          </a:p>
        </p:txBody>
      </p:sp>
      <p:sp>
        <p:nvSpPr>
          <p:cNvPr id="16" name="Rounded Rectangle 15"/>
          <p:cNvSpPr/>
          <p:nvPr/>
        </p:nvSpPr>
        <p:spPr>
          <a:xfrm>
            <a:off x="9052560" y="3221982"/>
            <a:ext cx="2514600" cy="1325880"/>
          </a:xfrm>
          <a:prstGeom prst="roundRect">
            <a:avLst/>
          </a:prstGeom>
          <a:solidFill>
            <a:srgbClr val="FFFFFF"/>
          </a:solidFill>
          <a:ln>
            <a:solidFill>
              <a:srgbClr val="E1D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04757" y="3725492"/>
            <a:ext cx="2148840" cy="667512"/>
          </a:xfrm>
          <a:prstGeom prst="rect">
            <a:avLst/>
          </a:prstGeom>
          <a:noFill/>
        </p:spPr>
        <p:txBody>
          <a:bodyPr wrap="square">
            <a:spAutoFit/>
          </a:bodyPr>
          <a:lstStyle/>
          <a:p>
            <a:pPr>
              <a:defRPr sz="1300" b="0">
                <a:solidFill>
                  <a:srgbClr val="3E2B2B"/>
                </a:solidFill>
                <a:latin typeface="Aptos"/>
              </a:defRPr>
            </a:pPr>
            <a:r>
              <a:rPr b="1" dirty="0">
                <a:solidFill>
                  <a:srgbClr val="000000"/>
                </a:solidFill>
                <a:latin typeface="Times New Roman"/>
              </a:rPr>
              <a:t>5  Assess health &amp; risk</a:t>
            </a:r>
          </a:p>
        </p:txBody>
      </p:sp>
      <p:sp>
        <p:nvSpPr>
          <p:cNvPr id="19" name="Rounded Rectangle 18"/>
          <p:cNvSpPr/>
          <p:nvPr/>
        </p:nvSpPr>
        <p:spPr>
          <a:xfrm>
            <a:off x="6240779" y="3258435"/>
            <a:ext cx="2514600" cy="1325880"/>
          </a:xfrm>
          <a:prstGeom prst="roundRect">
            <a:avLst/>
          </a:prstGeom>
          <a:solidFill>
            <a:srgbClr val="FFFFFF"/>
          </a:solidFill>
          <a:ln>
            <a:solidFill>
              <a:srgbClr val="E1D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23659" y="3788787"/>
            <a:ext cx="2148840" cy="667512"/>
          </a:xfrm>
          <a:prstGeom prst="rect">
            <a:avLst/>
          </a:prstGeom>
          <a:noFill/>
        </p:spPr>
        <p:txBody>
          <a:bodyPr wrap="square">
            <a:spAutoFit/>
          </a:bodyPr>
          <a:lstStyle/>
          <a:p>
            <a:pPr>
              <a:defRPr sz="1300" b="0">
                <a:solidFill>
                  <a:srgbClr val="3E2B2B"/>
                </a:solidFill>
                <a:latin typeface="Aptos"/>
              </a:defRPr>
            </a:pPr>
            <a:r>
              <a:rPr b="1">
                <a:solidFill>
                  <a:srgbClr val="000000"/>
                </a:solidFill>
                <a:latin typeface="Times New Roman"/>
              </a:rPr>
              <a:t>6  Generate predictions</a:t>
            </a:r>
          </a:p>
        </p:txBody>
      </p:sp>
      <p:sp>
        <p:nvSpPr>
          <p:cNvPr id="22" name="Rounded Rectangle 21"/>
          <p:cNvSpPr/>
          <p:nvPr/>
        </p:nvSpPr>
        <p:spPr>
          <a:xfrm>
            <a:off x="3474720" y="3252142"/>
            <a:ext cx="2514600" cy="1325880"/>
          </a:xfrm>
          <a:prstGeom prst="roundRect">
            <a:avLst/>
          </a:prstGeom>
          <a:solidFill>
            <a:srgbClr val="FFFFFF"/>
          </a:solidFill>
          <a:ln>
            <a:solidFill>
              <a:srgbClr val="E1D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TextBox 23"/>
          <p:cNvSpPr txBox="1"/>
          <p:nvPr/>
        </p:nvSpPr>
        <p:spPr>
          <a:xfrm>
            <a:off x="3657600" y="3772969"/>
            <a:ext cx="2148840" cy="667512"/>
          </a:xfrm>
          <a:prstGeom prst="rect">
            <a:avLst/>
          </a:prstGeom>
          <a:noFill/>
        </p:spPr>
        <p:txBody>
          <a:bodyPr wrap="square">
            <a:spAutoFit/>
          </a:bodyPr>
          <a:lstStyle/>
          <a:p>
            <a:pPr>
              <a:defRPr sz="1300" b="0">
                <a:solidFill>
                  <a:srgbClr val="3E2B2B"/>
                </a:solidFill>
                <a:latin typeface="Aptos"/>
              </a:defRPr>
            </a:pPr>
            <a:r>
              <a:rPr b="1" dirty="0">
                <a:solidFill>
                  <a:srgbClr val="000000"/>
                </a:solidFill>
                <a:latin typeface="Times New Roman"/>
              </a:rPr>
              <a:t>7  Send through APIs</a:t>
            </a:r>
          </a:p>
        </p:txBody>
      </p:sp>
      <p:sp>
        <p:nvSpPr>
          <p:cNvPr id="25" name="Rounded Rectangle 24"/>
          <p:cNvSpPr/>
          <p:nvPr/>
        </p:nvSpPr>
        <p:spPr>
          <a:xfrm>
            <a:off x="594361" y="3259393"/>
            <a:ext cx="2514600" cy="1325880"/>
          </a:xfrm>
          <a:prstGeom prst="roundRect">
            <a:avLst/>
          </a:prstGeom>
          <a:solidFill>
            <a:srgbClr val="FFFFFF"/>
          </a:solidFill>
          <a:ln>
            <a:solidFill>
              <a:srgbClr val="E1D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1" y="3725983"/>
            <a:ext cx="2148840" cy="667512"/>
          </a:xfrm>
          <a:prstGeom prst="rect">
            <a:avLst/>
          </a:prstGeom>
          <a:noFill/>
        </p:spPr>
        <p:txBody>
          <a:bodyPr wrap="square">
            <a:spAutoFit/>
          </a:bodyPr>
          <a:lstStyle/>
          <a:p>
            <a:pPr>
              <a:defRPr sz="1300" b="0">
                <a:solidFill>
                  <a:srgbClr val="3E2B2B"/>
                </a:solidFill>
                <a:latin typeface="Aptos"/>
              </a:defRPr>
            </a:pPr>
            <a:r>
              <a:rPr b="1" dirty="0">
                <a:solidFill>
                  <a:srgbClr val="000000"/>
                </a:solidFill>
                <a:latin typeface="Times New Roman"/>
              </a:rPr>
              <a:t>8  Display on dashboard</a:t>
            </a:r>
          </a:p>
        </p:txBody>
      </p:sp>
      <p:sp>
        <p:nvSpPr>
          <p:cNvPr id="28" name="TextBox 27"/>
          <p:cNvSpPr txBox="1"/>
          <p:nvPr/>
        </p:nvSpPr>
        <p:spPr>
          <a:xfrm>
            <a:off x="868680" y="4970452"/>
            <a:ext cx="10515600" cy="594360"/>
          </a:xfrm>
          <a:prstGeom prst="rect">
            <a:avLst/>
          </a:prstGeom>
          <a:noFill/>
        </p:spPr>
        <p:txBody>
          <a:bodyPr wrap="square" lIns="25400" tIns="12700" rIns="25400" bIns="12700">
            <a:spAutoFit/>
          </a:bodyPr>
          <a:lstStyle/>
          <a:p>
            <a:pPr algn="l">
              <a:defRPr sz="1500" b="1">
                <a:solidFill>
                  <a:srgbClr val="3E2B2B"/>
                </a:solidFill>
                <a:latin typeface="Aptos"/>
              </a:defRPr>
            </a:pPr>
            <a:r>
              <a:rPr sz="1300" b="1" dirty="0">
                <a:solidFill>
                  <a:srgbClr val="000000"/>
                </a:solidFill>
                <a:latin typeface="Times New Roman"/>
              </a:rPr>
              <a:t>AI/ML pipeline: Telemetry → Preprocessing → Feature Engineering → Anomaly Detection → Health Assessment → Failure-Risk Prediction → API Delivery → Dashboard Action</a:t>
            </a:r>
          </a:p>
        </p:txBody>
      </p:sp>
      <p:sp>
        <p:nvSpPr>
          <p:cNvPr id="29" name="Rounded Rectangle 28"/>
          <p:cNvSpPr/>
          <p:nvPr/>
        </p:nvSpPr>
        <p:spPr>
          <a:xfrm>
            <a:off x="822960" y="5578537"/>
            <a:ext cx="3246120" cy="666815"/>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000000"/>
                </a:solidFill>
                <a:latin typeface="Times New Roman"/>
              </a:rPr>
              <a:t>Anomaly Detection: identify deviations from expected machine behaviour</a:t>
            </a:r>
          </a:p>
        </p:txBody>
      </p:sp>
      <p:sp>
        <p:nvSpPr>
          <p:cNvPr id="30" name="Rounded Rectangle 29"/>
          <p:cNvSpPr/>
          <p:nvPr/>
        </p:nvSpPr>
        <p:spPr>
          <a:xfrm>
            <a:off x="4160520" y="5560314"/>
            <a:ext cx="3246120" cy="685038"/>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000000"/>
                </a:solidFill>
                <a:latin typeface="Times New Roman"/>
              </a:rPr>
              <a:t>Failure Prediction: estimate potential failure risk from learned patterns</a:t>
            </a:r>
          </a:p>
        </p:txBody>
      </p:sp>
      <p:sp>
        <p:nvSpPr>
          <p:cNvPr id="31" name="Rounded Rectangle 30"/>
          <p:cNvSpPr/>
          <p:nvPr/>
        </p:nvSpPr>
        <p:spPr>
          <a:xfrm>
            <a:off x="7498079" y="5530154"/>
            <a:ext cx="3246120" cy="715198"/>
          </a:xfrm>
          <a:prstGeom prst="roundRect">
            <a:avLst/>
          </a:prstGeom>
          <a:solidFill>
            <a:srgbClr val="F0F0F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000000"/>
                </a:solidFill>
                <a:latin typeface="Times New Roman"/>
              </a:rPr>
              <a:t>Health Scoring: convert signals into an actionable machine condition view</a:t>
            </a:r>
          </a:p>
        </p:txBody>
      </p:sp>
      <p:sp>
        <p:nvSpPr>
          <p:cNvPr id="32" name="Arrow: Right 31">
            <a:extLst>
              <a:ext uri="{FF2B5EF4-FFF2-40B4-BE49-F238E27FC236}">
                <a16:creationId xmlns:a16="http://schemas.microsoft.com/office/drawing/2014/main" id="{CAF38272-5455-244C-5E56-059516E49BD6}"/>
              </a:ext>
            </a:extLst>
          </p:cNvPr>
          <p:cNvSpPr/>
          <p:nvPr/>
        </p:nvSpPr>
        <p:spPr>
          <a:xfrm>
            <a:off x="2971800" y="1947672"/>
            <a:ext cx="640080" cy="29914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Arrow: Right 33">
            <a:extLst>
              <a:ext uri="{FF2B5EF4-FFF2-40B4-BE49-F238E27FC236}">
                <a16:creationId xmlns:a16="http://schemas.microsoft.com/office/drawing/2014/main" id="{5FEC6F61-6ADE-3F03-5F32-647710B0BCD7}"/>
              </a:ext>
            </a:extLst>
          </p:cNvPr>
          <p:cNvSpPr/>
          <p:nvPr/>
        </p:nvSpPr>
        <p:spPr>
          <a:xfrm>
            <a:off x="5669280" y="1887892"/>
            <a:ext cx="640080" cy="29914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Arrow: Right 35">
            <a:extLst>
              <a:ext uri="{FF2B5EF4-FFF2-40B4-BE49-F238E27FC236}">
                <a16:creationId xmlns:a16="http://schemas.microsoft.com/office/drawing/2014/main" id="{C6C12F76-3932-1C19-B9CE-9CC80F150794}"/>
              </a:ext>
            </a:extLst>
          </p:cNvPr>
          <p:cNvSpPr/>
          <p:nvPr/>
        </p:nvSpPr>
        <p:spPr>
          <a:xfrm>
            <a:off x="8595360" y="1964682"/>
            <a:ext cx="640080" cy="29914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Arrow: Right 37">
            <a:extLst>
              <a:ext uri="{FF2B5EF4-FFF2-40B4-BE49-F238E27FC236}">
                <a16:creationId xmlns:a16="http://schemas.microsoft.com/office/drawing/2014/main" id="{9B9B9DDD-543D-904F-583F-4F0C2F71F429}"/>
              </a:ext>
            </a:extLst>
          </p:cNvPr>
          <p:cNvSpPr/>
          <p:nvPr/>
        </p:nvSpPr>
        <p:spPr>
          <a:xfrm rot="5400000">
            <a:off x="9993015" y="2825152"/>
            <a:ext cx="640080" cy="29914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Arrow: Right 39">
            <a:extLst>
              <a:ext uri="{FF2B5EF4-FFF2-40B4-BE49-F238E27FC236}">
                <a16:creationId xmlns:a16="http://schemas.microsoft.com/office/drawing/2014/main" id="{76E495E8-B915-BB68-A866-AB73FB80B0D2}"/>
              </a:ext>
            </a:extLst>
          </p:cNvPr>
          <p:cNvSpPr/>
          <p:nvPr/>
        </p:nvSpPr>
        <p:spPr>
          <a:xfrm rot="10800000">
            <a:off x="8618218" y="3735349"/>
            <a:ext cx="640080" cy="29914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2" name="Arrow: Right 41">
            <a:extLst>
              <a:ext uri="{FF2B5EF4-FFF2-40B4-BE49-F238E27FC236}">
                <a16:creationId xmlns:a16="http://schemas.microsoft.com/office/drawing/2014/main" id="{4EBB1F50-4073-266F-5ADD-79B067CC635D}"/>
              </a:ext>
            </a:extLst>
          </p:cNvPr>
          <p:cNvSpPr/>
          <p:nvPr/>
        </p:nvSpPr>
        <p:spPr>
          <a:xfrm rot="10800000">
            <a:off x="5737859" y="3772760"/>
            <a:ext cx="640080" cy="29914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Arrow: Right 43">
            <a:extLst>
              <a:ext uri="{FF2B5EF4-FFF2-40B4-BE49-F238E27FC236}">
                <a16:creationId xmlns:a16="http://schemas.microsoft.com/office/drawing/2014/main" id="{98C71233-4EA4-3091-EA58-E90F46DD5DCC}"/>
              </a:ext>
            </a:extLst>
          </p:cNvPr>
          <p:cNvSpPr/>
          <p:nvPr/>
        </p:nvSpPr>
        <p:spPr>
          <a:xfrm rot="10800000">
            <a:off x="2933702" y="3784018"/>
            <a:ext cx="640080" cy="29914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02920"/>
          </a:xfrm>
          <a:prstGeom prst="rect">
            <a:avLst/>
          </a:prstGeom>
          <a:noFill/>
        </p:spPr>
        <p:txBody>
          <a:bodyPr wrap="none">
            <a:spAutoFit/>
          </a:bodyPr>
          <a:lstStyle/>
          <a:p>
            <a:pPr algn="l">
              <a:defRPr sz="2600" b="1">
                <a:solidFill>
                  <a:srgbClr val="3E2B2B"/>
                </a:solidFill>
                <a:latin typeface="Aptos Display"/>
              </a:defRPr>
            </a:pPr>
            <a:r>
              <a:rPr sz="3500" b="1" u="sng">
                <a:solidFill>
                  <a:srgbClr val="FFFFFF"/>
                </a:solidFill>
                <a:latin typeface="Times New Roman"/>
              </a:rPr>
              <a:t>11. Results &amp; Advantages</a:t>
            </a:r>
          </a:p>
        </p:txBody>
      </p:sp>
      <p:sp>
        <p:nvSpPr>
          <p:cNvPr id="3" name="Rectangle 2"/>
          <p:cNvSpPr/>
          <p:nvPr/>
        </p:nvSpPr>
        <p:spPr>
          <a:xfrm>
            <a:off x="59436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490472"/>
            <a:ext cx="4846320" cy="307777"/>
          </a:xfrm>
          <a:prstGeom prst="rect">
            <a:avLst/>
          </a:prstGeom>
          <a:noFill/>
        </p:spPr>
        <p:txBody>
          <a:bodyPr wrap="square">
            <a:spAutoFit/>
          </a:bodyPr>
          <a:lstStyle/>
          <a:p>
            <a:pPr>
              <a:defRPr sz="1300" b="1">
                <a:solidFill>
                  <a:srgbClr val="703D3D"/>
                </a:solidFill>
                <a:latin typeface="Aptos"/>
              </a:defRPr>
            </a:pPr>
            <a:r>
              <a:rPr sz="1400" b="1">
                <a:solidFill>
                  <a:srgbClr val="000000"/>
                </a:solidFill>
                <a:latin typeface="Times New Roman"/>
              </a:rPr>
              <a:t>RESULTS</a:t>
            </a:r>
          </a:p>
        </p:txBody>
      </p:sp>
      <p:sp>
        <p:nvSpPr>
          <p:cNvPr id="6" name="TextBox 5"/>
          <p:cNvSpPr txBox="1"/>
          <p:nvPr/>
        </p:nvSpPr>
        <p:spPr>
          <a:xfrm>
            <a:off x="868680" y="1856231"/>
            <a:ext cx="4846320" cy="738664"/>
          </a:xfrm>
          <a:prstGeom prst="rect">
            <a:avLst/>
          </a:prstGeom>
          <a:noFill/>
        </p:spPr>
        <p:txBody>
          <a:bodyPr wrap="square" lIns="25400" tIns="12700" rIns="25400" bIns="12700">
            <a:spAutoFit/>
          </a:bodyPr>
          <a:lstStyle/>
          <a:p>
            <a:pPr algn="l">
              <a:defRPr sz="1300" b="0">
                <a:solidFill>
                  <a:srgbClr val="3E2B2B"/>
                </a:solidFill>
                <a:latin typeface="Aptos"/>
              </a:defRPr>
            </a:pPr>
            <a:r>
              <a:rPr sz="1400" b="1" dirty="0">
                <a:solidFill>
                  <a:srgbClr val="000000"/>
                </a:solidFill>
                <a:latin typeface="Times New Roman"/>
              </a:rPr>
              <a:t>The platform centralizes machine health visualization, telemetry trends, alerts, incidents and maintenance/prediction records.</a:t>
            </a:r>
          </a:p>
        </p:txBody>
      </p:sp>
      <p:sp>
        <p:nvSpPr>
          <p:cNvPr id="8" name="TextBox 7"/>
          <p:cNvSpPr txBox="1"/>
          <p:nvPr/>
        </p:nvSpPr>
        <p:spPr>
          <a:xfrm>
            <a:off x="7396251" y="1445702"/>
            <a:ext cx="4846320" cy="307777"/>
          </a:xfrm>
          <a:prstGeom prst="rect">
            <a:avLst/>
          </a:prstGeom>
          <a:noFill/>
        </p:spPr>
        <p:txBody>
          <a:bodyPr wrap="square">
            <a:spAutoFit/>
          </a:bodyPr>
          <a:lstStyle/>
          <a:p>
            <a:pPr>
              <a:defRPr sz="1300" b="1">
                <a:solidFill>
                  <a:srgbClr val="703D3D"/>
                </a:solidFill>
                <a:latin typeface="Aptos"/>
              </a:defRPr>
            </a:pPr>
            <a:r>
              <a:rPr sz="1400" b="1">
                <a:solidFill>
                  <a:srgbClr val="000000"/>
                </a:solidFill>
                <a:latin typeface="Times New Roman"/>
              </a:rPr>
              <a:t>OPERATIONAL OUTPUT</a:t>
            </a:r>
          </a:p>
        </p:txBody>
      </p:sp>
      <p:sp>
        <p:nvSpPr>
          <p:cNvPr id="9" name="TextBox 8"/>
          <p:cNvSpPr txBox="1"/>
          <p:nvPr/>
        </p:nvSpPr>
        <p:spPr>
          <a:xfrm>
            <a:off x="7396251" y="1890360"/>
            <a:ext cx="3214037" cy="1102866"/>
          </a:xfrm>
          <a:prstGeom prst="rect">
            <a:avLst/>
          </a:prstGeom>
          <a:noFill/>
        </p:spPr>
        <p:txBody>
          <a:bodyPr wrap="square" lIns="25400" tIns="12700" rIns="25400" bIns="12700">
            <a:spAutoFit/>
          </a:bodyPr>
          <a:lstStyle/>
          <a:p>
            <a:pPr algn="l">
              <a:defRPr sz="1300" b="0">
                <a:solidFill>
                  <a:srgbClr val="3E2B2B"/>
                </a:solidFill>
                <a:latin typeface="Aptos"/>
              </a:defRPr>
            </a:pPr>
            <a:r>
              <a:rPr sz="1400" b="1" dirty="0">
                <a:solidFill>
                  <a:srgbClr val="000000"/>
                </a:solidFill>
                <a:latin typeface="Times New Roman"/>
              </a:rPr>
              <a:t>Operational teams receive a single interface for reviewing machine condition, identifying abnormal </a:t>
            </a:r>
            <a:r>
              <a:rPr sz="1400" b="1" dirty="0" err="1">
                <a:solidFill>
                  <a:srgbClr val="000000"/>
                </a:solidFill>
                <a:latin typeface="Times New Roman"/>
              </a:rPr>
              <a:t>behaviour</a:t>
            </a:r>
            <a:r>
              <a:rPr sz="1400" b="1" dirty="0">
                <a:solidFill>
                  <a:srgbClr val="000000"/>
                </a:solidFill>
                <a:latin typeface="Times New Roman"/>
              </a:rPr>
              <a:t> and prioritizing maintenance information.</a:t>
            </a:r>
          </a:p>
        </p:txBody>
      </p:sp>
      <p:sp>
        <p:nvSpPr>
          <p:cNvPr id="10" name="TextBox 9"/>
          <p:cNvSpPr txBox="1"/>
          <p:nvPr/>
        </p:nvSpPr>
        <p:spPr>
          <a:xfrm>
            <a:off x="868680" y="2678216"/>
            <a:ext cx="4846320" cy="2303195"/>
          </a:xfrm>
          <a:prstGeom prst="rect">
            <a:avLst/>
          </a:prstGeom>
          <a:noFill/>
        </p:spPr>
        <p:txBody>
          <a:bodyPr wrap="square" lIns="25400" tIns="12700" rIns="25400" bIns="12700">
            <a:spAutoFit/>
          </a:bodyPr>
          <a:lstStyle/>
          <a:p>
            <a:pPr algn="l">
              <a:spcAft>
                <a:spcPts val="1000"/>
              </a:spcAft>
              <a:defRPr sz="1400">
                <a:solidFill>
                  <a:srgbClr val="3E2B2B"/>
                </a:solidFill>
                <a:latin typeface="Aptos"/>
              </a:defRPr>
            </a:pPr>
            <a:r>
              <a:rPr sz="1400" b="1" dirty="0">
                <a:solidFill>
                  <a:srgbClr val="000000"/>
                </a:solidFill>
                <a:latin typeface="Times New Roman"/>
              </a:rPr>
              <a:t>• Early identification of abnormal machine </a:t>
            </a:r>
            <a:r>
              <a:rPr sz="1400" b="1" dirty="0" err="1">
                <a:solidFill>
                  <a:srgbClr val="000000"/>
                </a:solidFill>
                <a:latin typeface="Times New Roman"/>
              </a:rPr>
              <a:t>behaviour</a:t>
            </a:r>
            <a:r>
              <a:rPr sz="1400" b="1" dirty="0">
                <a:solidFill>
                  <a:srgbClr val="000000"/>
                </a:solidFill>
                <a:latin typeface="Times New Roman"/>
              </a:rPr>
              <a:t>
• Reduced dependency on continuous manual monitoring
• Better maintenance prioritization through risk information
• Potential reduction in unexpected downtime
• Improved visibility of machine health and operational data
• Data-driven support for industrial decisions
</a:t>
            </a:r>
          </a:p>
        </p:txBody>
      </p:sp>
      <p:sp>
        <p:nvSpPr>
          <p:cNvPr id="7" name="Rectangle 6">
            <a:extLst>
              <a:ext uri="{FF2B5EF4-FFF2-40B4-BE49-F238E27FC236}">
                <a16:creationId xmlns:a16="http://schemas.microsoft.com/office/drawing/2014/main" id="{AEE50BBF-8EEB-773E-F661-D2CF8086CA9B}"/>
              </a:ext>
            </a:extLst>
          </p:cNvPr>
          <p:cNvSpPr/>
          <p:nvPr/>
        </p:nvSpPr>
        <p:spPr>
          <a:xfrm>
            <a:off x="594360" y="1211601"/>
            <a:ext cx="5852160" cy="3837179"/>
          </a:xfrm>
          <a:prstGeom prst="rect">
            <a:avLst/>
          </a:prstGeom>
          <a:noFill/>
          <a:ln>
            <a:solidFill>
              <a:schemeClr val="tx1">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94A26661-CE6D-7996-69A8-7D932F6AEA98}"/>
              </a:ext>
            </a:extLst>
          </p:cNvPr>
          <p:cNvSpPr txBox="1"/>
          <p:nvPr/>
        </p:nvSpPr>
        <p:spPr>
          <a:xfrm>
            <a:off x="7396251" y="3263159"/>
            <a:ext cx="2399017" cy="1600438"/>
          </a:xfrm>
          <a:prstGeom prst="rect">
            <a:avLst/>
          </a:prstGeom>
          <a:noFill/>
        </p:spPr>
        <p:txBody>
          <a:bodyPr wrap="square" rtlCol="0">
            <a:spAutoFit/>
          </a:bodyPr>
          <a:lstStyle/>
          <a:p>
            <a:r>
              <a:rPr lang="en-US" sz="1400" b="1" dirty="0">
                <a:solidFill>
                  <a:srgbClr val="000000"/>
                </a:solidFill>
                <a:latin typeface="Times New Roman"/>
              </a:rPr>
              <a:t>
USE CASES
• Manufacturing plants</a:t>
            </a:r>
          </a:p>
          <a:p>
            <a:r>
              <a:rPr lang="en-US" sz="1400" b="1" dirty="0">
                <a:solidFill>
                  <a:srgbClr val="000000"/>
                </a:solidFill>
                <a:latin typeface="Times New Roman"/>
              </a:rPr>
              <a:t>• Production lines </a:t>
            </a:r>
          </a:p>
          <a:p>
            <a:r>
              <a:rPr lang="en-US" sz="1400" b="1" dirty="0">
                <a:solidFill>
                  <a:srgbClr val="000000"/>
                </a:solidFill>
                <a:latin typeface="Times New Roman"/>
              </a:rPr>
              <a:t>• Power plants </a:t>
            </a:r>
          </a:p>
          <a:p>
            <a:r>
              <a:rPr lang="en-US" sz="1400" b="1" dirty="0">
                <a:solidFill>
                  <a:srgbClr val="000000"/>
                </a:solidFill>
                <a:latin typeface="Times New Roman"/>
              </a:rPr>
              <a:t>• Automotive industries</a:t>
            </a:r>
          </a:p>
          <a:p>
            <a:r>
              <a:rPr lang="en-US" sz="1400" b="1" dirty="0">
                <a:solidFill>
                  <a:srgbClr val="000000"/>
                </a:solidFill>
                <a:latin typeface="Times New Roman"/>
              </a:rPr>
              <a:t>• Process industries</a:t>
            </a:r>
            <a:endParaRPr lang="en-IN" sz="1400" dirty="0"/>
          </a:p>
        </p:txBody>
      </p:sp>
      <p:sp>
        <p:nvSpPr>
          <p:cNvPr id="13" name="Rectangle 12">
            <a:extLst>
              <a:ext uri="{FF2B5EF4-FFF2-40B4-BE49-F238E27FC236}">
                <a16:creationId xmlns:a16="http://schemas.microsoft.com/office/drawing/2014/main" id="{86A9B98A-4B26-C297-0E79-F3BE04C5F27E}"/>
              </a:ext>
            </a:extLst>
          </p:cNvPr>
          <p:cNvSpPr/>
          <p:nvPr/>
        </p:nvSpPr>
        <p:spPr>
          <a:xfrm>
            <a:off x="7124946" y="3379421"/>
            <a:ext cx="3704660" cy="1643224"/>
          </a:xfrm>
          <a:prstGeom prst="rect">
            <a:avLst/>
          </a:prstGeom>
          <a:noFill/>
          <a:ln>
            <a:solidFill>
              <a:schemeClr val="tx1">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15" name="Rectangle 14">
            <a:extLst>
              <a:ext uri="{FF2B5EF4-FFF2-40B4-BE49-F238E27FC236}">
                <a16:creationId xmlns:a16="http://schemas.microsoft.com/office/drawing/2014/main" id="{66AEB9C8-C6A4-7560-A904-CFF5404523A0}"/>
              </a:ext>
            </a:extLst>
          </p:cNvPr>
          <p:cNvSpPr/>
          <p:nvPr/>
        </p:nvSpPr>
        <p:spPr>
          <a:xfrm>
            <a:off x="7124946" y="1211601"/>
            <a:ext cx="3704660" cy="1884838"/>
          </a:xfrm>
          <a:prstGeom prst="rect">
            <a:avLst/>
          </a:prstGeom>
          <a:noFill/>
          <a:ln>
            <a:solidFill>
              <a:schemeClr val="tx1">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4446538" cy="492443"/>
          </a:xfrm>
          <a:prstGeom prst="rect">
            <a:avLst/>
          </a:prstGeom>
          <a:noFill/>
        </p:spPr>
        <p:txBody>
          <a:bodyPr wrap="none">
            <a:spAutoFit/>
          </a:bodyPr>
          <a:lstStyle/>
          <a:p>
            <a:pPr algn="l">
              <a:defRPr sz="2600" b="1">
                <a:solidFill>
                  <a:srgbClr val="3E2B2B"/>
                </a:solidFill>
                <a:latin typeface="Aptos Display"/>
              </a:defRPr>
            </a:pPr>
            <a:r>
              <a:rPr sz="3500" b="1" u="sng">
                <a:solidFill>
                  <a:srgbClr val="FFFFFF"/>
                </a:solidFill>
                <a:latin typeface="Times New Roman"/>
              </a:rPr>
              <a:t>12. Future Scope &amp; Conclusion</a:t>
            </a:r>
          </a:p>
        </p:txBody>
      </p:sp>
      <p:sp>
        <p:nvSpPr>
          <p:cNvPr id="3" name="Rectangle 2"/>
          <p:cNvSpPr/>
          <p:nvPr/>
        </p:nvSpPr>
        <p:spPr>
          <a:xfrm>
            <a:off x="59436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25215" y="1878851"/>
            <a:ext cx="4892040" cy="338554"/>
          </a:xfrm>
          <a:prstGeom prst="rect">
            <a:avLst/>
          </a:prstGeom>
          <a:noFill/>
        </p:spPr>
        <p:txBody>
          <a:bodyPr wrap="square">
            <a:spAutoFit/>
          </a:bodyPr>
          <a:lstStyle/>
          <a:p>
            <a:pPr>
              <a:defRPr sz="1300" b="1">
                <a:solidFill>
                  <a:srgbClr val="36A369"/>
                </a:solidFill>
                <a:latin typeface="Aptos"/>
              </a:defRPr>
            </a:pPr>
            <a:r>
              <a:rPr sz="1600" b="1" dirty="0">
                <a:solidFill>
                  <a:srgbClr val="000000"/>
                </a:solidFill>
                <a:latin typeface="Times New Roman"/>
              </a:rPr>
              <a:t>FUTURE SCOPE</a:t>
            </a:r>
          </a:p>
        </p:txBody>
      </p:sp>
      <p:sp>
        <p:nvSpPr>
          <p:cNvPr id="6" name="TextBox 5"/>
          <p:cNvSpPr txBox="1"/>
          <p:nvPr/>
        </p:nvSpPr>
        <p:spPr>
          <a:xfrm>
            <a:off x="868680" y="2355339"/>
            <a:ext cx="4892040" cy="2826415"/>
          </a:xfrm>
          <a:prstGeom prst="rect">
            <a:avLst/>
          </a:prstGeom>
          <a:noFill/>
        </p:spPr>
        <p:txBody>
          <a:bodyPr wrap="square" lIns="25400" tIns="12700" rIns="25400" bIns="12700">
            <a:spAutoFit/>
          </a:bodyPr>
          <a:lstStyle/>
          <a:p>
            <a:pPr algn="l">
              <a:defRPr sz="1300" b="0">
                <a:solidFill>
                  <a:srgbClr val="3E2B2B"/>
                </a:solidFill>
                <a:latin typeface="Aptos"/>
              </a:defRPr>
            </a:pPr>
            <a:r>
              <a:rPr sz="1400" b="1" dirty="0">
                <a:solidFill>
                  <a:srgbClr val="000000"/>
                </a:solidFill>
                <a:latin typeface="Times New Roman"/>
              </a:rPr>
              <a:t>• Real-time IoT sensor integration and streaming telemetry</a:t>
            </a:r>
            <a:endParaRPr lang="en-IN" sz="1400" b="1" dirty="0">
              <a:solidFill>
                <a:srgbClr val="000000"/>
              </a:solidFill>
              <a:latin typeface="Times New Roman"/>
            </a:endParaRPr>
          </a:p>
          <a:p>
            <a:pPr algn="l">
              <a:defRPr sz="1300" b="0">
                <a:solidFill>
                  <a:srgbClr val="3E2B2B"/>
                </a:solidFill>
                <a:latin typeface="Aptos"/>
              </a:defRPr>
            </a:pPr>
            <a:r>
              <a:rPr sz="1400" b="1" dirty="0">
                <a:solidFill>
                  <a:srgbClr val="000000"/>
                </a:solidFill>
                <a:latin typeface="Times New Roman"/>
              </a:rPr>
              <a:t>
• Advanced deep-learning models for complex failure patterns</a:t>
            </a:r>
            <a:endParaRPr lang="en-IN" sz="1400" b="1" dirty="0">
              <a:solidFill>
                <a:srgbClr val="000000"/>
              </a:solidFill>
              <a:latin typeface="Times New Roman"/>
            </a:endParaRPr>
          </a:p>
          <a:p>
            <a:pPr algn="l">
              <a:defRPr sz="1300" b="0">
                <a:solidFill>
                  <a:srgbClr val="3E2B2B"/>
                </a:solidFill>
                <a:latin typeface="Aptos"/>
              </a:defRPr>
            </a:pPr>
            <a:r>
              <a:rPr sz="1400" b="1" dirty="0">
                <a:solidFill>
                  <a:srgbClr val="000000"/>
                </a:solidFill>
                <a:latin typeface="Times New Roman"/>
              </a:rPr>
              <a:t>
• Remaining Useful Life (RUL) prediction</a:t>
            </a:r>
            <a:endParaRPr lang="en-IN" sz="1400" b="1" dirty="0">
              <a:solidFill>
                <a:srgbClr val="000000"/>
              </a:solidFill>
              <a:latin typeface="Times New Roman"/>
            </a:endParaRPr>
          </a:p>
          <a:p>
            <a:pPr algn="l">
              <a:defRPr sz="1300" b="0">
                <a:solidFill>
                  <a:srgbClr val="3E2B2B"/>
                </a:solidFill>
                <a:latin typeface="Aptos"/>
              </a:defRPr>
            </a:pPr>
            <a:r>
              <a:rPr sz="1400" b="1" dirty="0">
                <a:solidFill>
                  <a:srgbClr val="000000"/>
                </a:solidFill>
                <a:latin typeface="Times New Roman"/>
              </a:rPr>
              <a:t>
• Automated maintenance scheduling</a:t>
            </a:r>
            <a:endParaRPr lang="en-IN" sz="1400" b="1" dirty="0">
              <a:solidFill>
                <a:srgbClr val="000000"/>
              </a:solidFill>
              <a:latin typeface="Times New Roman"/>
            </a:endParaRPr>
          </a:p>
          <a:p>
            <a:pPr algn="l">
              <a:defRPr sz="1300" b="0">
                <a:solidFill>
                  <a:srgbClr val="3E2B2B"/>
                </a:solidFill>
                <a:latin typeface="Aptos"/>
              </a:defRPr>
            </a:pPr>
            <a:r>
              <a:rPr sz="1400" b="1" dirty="0">
                <a:solidFill>
                  <a:srgbClr val="000000"/>
                </a:solidFill>
                <a:latin typeface="Times New Roman"/>
              </a:rPr>
              <a:t>
• Cloud deployment and scalable data infrastructure</a:t>
            </a:r>
            <a:endParaRPr lang="en-IN" sz="1400" b="1" dirty="0">
              <a:solidFill>
                <a:srgbClr val="000000"/>
              </a:solidFill>
              <a:latin typeface="Times New Roman"/>
            </a:endParaRPr>
          </a:p>
          <a:p>
            <a:pPr algn="l">
              <a:defRPr sz="1300" b="0">
                <a:solidFill>
                  <a:srgbClr val="3E2B2B"/>
                </a:solidFill>
                <a:latin typeface="Aptos"/>
              </a:defRPr>
            </a:pPr>
            <a:r>
              <a:rPr sz="1400" b="1" dirty="0">
                <a:solidFill>
                  <a:srgbClr val="000000"/>
                </a:solidFill>
                <a:latin typeface="Times New Roman"/>
              </a:rPr>
              <a:t>
• Digital twin integration and closed-loop process optimization</a:t>
            </a:r>
            <a:endParaRPr lang="en-IN" sz="1400" b="1" dirty="0">
              <a:solidFill>
                <a:srgbClr val="000000"/>
              </a:solidFill>
              <a:latin typeface="Times New Roman"/>
            </a:endParaRPr>
          </a:p>
          <a:p>
            <a:pPr algn="l">
              <a:defRPr sz="1300" b="0">
                <a:solidFill>
                  <a:srgbClr val="3E2B2B"/>
                </a:solidFill>
                <a:latin typeface="Aptos"/>
              </a:defRPr>
            </a:pPr>
            <a:r>
              <a:rPr sz="1400" b="1" dirty="0">
                <a:solidFill>
                  <a:srgbClr val="000000"/>
                </a:solidFill>
                <a:latin typeface="Times New Roman"/>
              </a:rPr>
              <a:t>
• AI agents for process and maintenance assistance</a:t>
            </a:r>
          </a:p>
        </p:txBody>
      </p:sp>
      <p:sp>
        <p:nvSpPr>
          <p:cNvPr id="8" name="TextBox 7"/>
          <p:cNvSpPr txBox="1"/>
          <p:nvPr/>
        </p:nvSpPr>
        <p:spPr>
          <a:xfrm>
            <a:off x="6636037" y="1892709"/>
            <a:ext cx="4892040" cy="338554"/>
          </a:xfrm>
          <a:prstGeom prst="rect">
            <a:avLst/>
          </a:prstGeom>
          <a:noFill/>
        </p:spPr>
        <p:txBody>
          <a:bodyPr wrap="square">
            <a:spAutoFit/>
          </a:bodyPr>
          <a:lstStyle/>
          <a:p>
            <a:pPr>
              <a:defRPr sz="1300" b="1">
                <a:solidFill>
                  <a:srgbClr val="703D3D"/>
                </a:solidFill>
                <a:latin typeface="Aptos"/>
              </a:defRPr>
            </a:pPr>
            <a:r>
              <a:rPr sz="1600" b="1" dirty="0">
                <a:solidFill>
                  <a:srgbClr val="000000"/>
                </a:solidFill>
                <a:latin typeface="Times New Roman"/>
              </a:rPr>
              <a:t>CONCLUSION</a:t>
            </a:r>
          </a:p>
        </p:txBody>
      </p:sp>
      <p:sp>
        <p:nvSpPr>
          <p:cNvPr id="9" name="TextBox 8"/>
          <p:cNvSpPr txBox="1"/>
          <p:nvPr/>
        </p:nvSpPr>
        <p:spPr>
          <a:xfrm>
            <a:off x="6636037" y="2549092"/>
            <a:ext cx="4892040" cy="2292935"/>
          </a:xfrm>
          <a:prstGeom prst="rect">
            <a:avLst/>
          </a:prstGeom>
          <a:noFill/>
        </p:spPr>
        <p:txBody>
          <a:bodyPr wrap="square" lIns="25400" tIns="12700" rIns="25400" bIns="12700">
            <a:spAutoFit/>
          </a:bodyPr>
          <a:lstStyle/>
          <a:p>
            <a:pPr algn="l">
              <a:defRPr sz="1300" b="0">
                <a:solidFill>
                  <a:srgbClr val="3E2B2B"/>
                </a:solidFill>
                <a:latin typeface="Aptos"/>
              </a:defRPr>
            </a:pPr>
            <a:r>
              <a:rPr sz="1400" b="1" dirty="0">
                <a:solidFill>
                  <a:srgbClr val="000000"/>
                </a:solidFill>
                <a:latin typeface="Times New Roman"/>
              </a:rPr>
              <a:t>The system combines AI/ML, industrial telemetry, </a:t>
            </a:r>
            <a:r>
              <a:rPr sz="1400" b="1" dirty="0" err="1">
                <a:solidFill>
                  <a:srgbClr val="000000"/>
                </a:solidFill>
                <a:latin typeface="Times New Roman"/>
              </a:rPr>
              <a:t>FastAPI</a:t>
            </a:r>
            <a:r>
              <a:rPr sz="1400" b="1" dirty="0">
                <a:solidFill>
                  <a:srgbClr val="000000"/>
                </a:solidFill>
                <a:latin typeface="Times New Roman"/>
              </a:rPr>
              <a:t> services, structured records and an interactive </a:t>
            </a:r>
            <a:r>
              <a:rPr sz="1400" b="1" dirty="0" err="1">
                <a:solidFill>
                  <a:srgbClr val="000000"/>
                </a:solidFill>
                <a:latin typeface="Times New Roman"/>
              </a:rPr>
              <a:t>Streamlit</a:t>
            </a:r>
            <a:r>
              <a:rPr sz="1400" b="1" dirty="0">
                <a:solidFill>
                  <a:srgbClr val="000000"/>
                </a:solidFill>
                <a:latin typeface="Times New Roman"/>
              </a:rPr>
              <a:t> interface.
It supports machine health assessment, anomaly detection, failure-risk prediction and maintenance tracking.
Goal: move from reactive maintenance toward predictive, data-driven maintenance and improved process reliability.</a:t>
            </a:r>
          </a:p>
        </p:txBody>
      </p:sp>
      <p:sp>
        <p:nvSpPr>
          <p:cNvPr id="4" name="Rectangle 3">
            <a:extLst>
              <a:ext uri="{FF2B5EF4-FFF2-40B4-BE49-F238E27FC236}">
                <a16:creationId xmlns:a16="http://schemas.microsoft.com/office/drawing/2014/main" id="{F67559D3-3F6F-A37D-04D8-297B16AF4932}"/>
              </a:ext>
            </a:extLst>
          </p:cNvPr>
          <p:cNvSpPr/>
          <p:nvPr/>
        </p:nvSpPr>
        <p:spPr>
          <a:xfrm>
            <a:off x="487555" y="1545226"/>
            <a:ext cx="5475585" cy="3865978"/>
          </a:xfrm>
          <a:prstGeom prst="rect">
            <a:avLst/>
          </a:prstGeom>
          <a:noFill/>
          <a:ln>
            <a:solidFill>
              <a:schemeClr val="tx1">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F08AB8C4-210A-4F34-F6C8-8FF24A0C606E}"/>
              </a:ext>
            </a:extLst>
          </p:cNvPr>
          <p:cNvSpPr/>
          <p:nvPr/>
        </p:nvSpPr>
        <p:spPr>
          <a:xfrm>
            <a:off x="6344265" y="1574879"/>
            <a:ext cx="5475585" cy="3855006"/>
          </a:xfrm>
          <a:prstGeom prst="rect">
            <a:avLst/>
          </a:prstGeom>
          <a:noFill/>
          <a:ln>
            <a:solidFill>
              <a:schemeClr val="tx1">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6547104"/>
            <a:ext cx="10972800" cy="10972"/>
          </a:xfrm>
          <a:prstGeom prst="rect">
            <a:avLst/>
          </a:prstGeom>
          <a:solidFill>
            <a:srgbClr val="E1D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74519"/>
            <a:ext cx="10698480" cy="646331"/>
          </a:xfrm>
          <a:prstGeom prst="rect">
            <a:avLst/>
          </a:prstGeom>
          <a:noFill/>
        </p:spPr>
        <p:txBody>
          <a:bodyPr wrap="square" lIns="25400" tIns="12700" rIns="25400" bIns="12700">
            <a:spAutoFit/>
          </a:bodyPr>
          <a:lstStyle/>
          <a:p>
            <a:pPr algn="ctr">
              <a:defRPr sz="3600" b="1">
                <a:solidFill>
                  <a:srgbClr val="3E2B2B"/>
                </a:solidFill>
                <a:latin typeface="Aptos"/>
              </a:defRPr>
            </a:pPr>
            <a:r>
              <a:rPr sz="3500" b="1" u="sng">
                <a:solidFill>
                  <a:srgbClr val="FFFFFF"/>
                </a:solidFill>
                <a:latin typeface="Times New Roman"/>
              </a:rPr>
              <a:t>THANK YOU!</a:t>
            </a:r>
          </a:p>
        </p:txBody>
      </p:sp>
      <p:sp>
        <p:nvSpPr>
          <p:cNvPr id="4" name="TextBox 3"/>
          <p:cNvSpPr txBox="1"/>
          <p:nvPr/>
        </p:nvSpPr>
        <p:spPr>
          <a:xfrm>
            <a:off x="914400" y="2788920"/>
            <a:ext cx="10332720" cy="411480"/>
          </a:xfrm>
          <a:prstGeom prst="rect">
            <a:avLst/>
          </a:prstGeom>
          <a:noFill/>
        </p:spPr>
        <p:txBody>
          <a:bodyPr wrap="square" lIns="25400" tIns="12700" rIns="25400" bIns="12700">
            <a:spAutoFit/>
          </a:bodyPr>
          <a:lstStyle/>
          <a:p>
            <a:pPr algn="ctr">
              <a:defRPr sz="2000" b="0">
                <a:solidFill>
                  <a:srgbClr val="703D3D"/>
                </a:solidFill>
                <a:latin typeface="Aptos"/>
              </a:defRPr>
            </a:pPr>
            <a:r>
              <a:rPr sz="2200" b="1">
                <a:solidFill>
                  <a:srgbClr val="000000"/>
                </a:solidFill>
                <a:latin typeface="Times New Roman"/>
              </a:rPr>
              <a:t>Questions &amp; Discussion</a:t>
            </a:r>
          </a:p>
        </p:txBody>
      </p:sp>
      <p:sp>
        <p:nvSpPr>
          <p:cNvPr id="5" name="TextBox 4"/>
          <p:cNvSpPr txBox="1"/>
          <p:nvPr/>
        </p:nvSpPr>
        <p:spPr>
          <a:xfrm>
            <a:off x="914400" y="3657600"/>
            <a:ext cx="10332720" cy="241092"/>
          </a:xfrm>
          <a:prstGeom prst="rect">
            <a:avLst/>
          </a:prstGeom>
          <a:noFill/>
        </p:spPr>
        <p:txBody>
          <a:bodyPr wrap="square" lIns="25400" tIns="12700" rIns="25400" bIns="12700">
            <a:spAutoFit/>
          </a:bodyPr>
          <a:lstStyle/>
          <a:p>
            <a:pPr algn="ctr">
              <a:defRPr sz="1400" b="0">
                <a:solidFill>
                  <a:srgbClr val="786C6C"/>
                </a:solidFill>
                <a:latin typeface="Aptos"/>
              </a:defRPr>
            </a:pPr>
            <a:r>
              <a:rPr lang="en-IN" sz="1400" b="1" dirty="0">
                <a:solidFill>
                  <a:srgbClr val="000000"/>
                </a:solidFill>
                <a:latin typeface="Times New Roman"/>
              </a:rPr>
              <a:t>Team D </a:t>
            </a:r>
            <a:r>
              <a:rPr sz="1400" b="1" dirty="0">
                <a:solidFill>
                  <a:srgbClr val="000000"/>
                </a:solidFill>
                <a:latin typeface="Times New Roman"/>
              </a:rPr>
              <a:t>| </a:t>
            </a:r>
            <a:r>
              <a:rPr sz="1400" b="1" dirty="0" err="1">
                <a:solidFill>
                  <a:srgbClr val="000000"/>
                </a:solidFill>
                <a:latin typeface="Times New Roman"/>
              </a:rPr>
              <a:t>FactoryOps</a:t>
            </a:r>
            <a:r>
              <a:rPr sz="1400" b="1" dirty="0">
                <a:solidFill>
                  <a:srgbClr val="000000"/>
                </a:solidFill>
                <a:latin typeface="Times New Roman"/>
              </a:rPr>
              <a:t> Predictive Maintenance Platform</a:t>
            </a:r>
          </a:p>
        </p:txBody>
      </p:sp>
    </p:spTree>
  </p:cSld>
  <p:clrMapOvr>
    <a:masterClrMapping/>
  </p:clrMapOvr>
</p:sld>
</file>

<file path=ppt/theme/theme1.xml><?xml version="1.0" encoding="utf-8"?>
<a:theme xmlns:a="http://schemas.openxmlformats.org/drawingml/2006/main" name="Office Theme">
  <a:themeElements>
    <a:clrScheme name="Custom 5">
      <a:dk1>
        <a:srgbClr val="622424"/>
      </a:dk1>
      <a:lt1>
        <a:srgbClr val="835747"/>
      </a:lt1>
      <a:dk2>
        <a:srgbClr val="6F493C"/>
      </a:dk2>
      <a:lt2>
        <a:srgbClr val="571811"/>
      </a:lt2>
      <a:accent1>
        <a:srgbClr val="9E3511"/>
      </a:accent1>
      <a:accent2>
        <a:srgbClr val="742117"/>
      </a:accent2>
      <a:accent3>
        <a:srgbClr val="A46D5B"/>
      </a:accent3>
      <a:accent4>
        <a:srgbClr val="835747"/>
      </a:accent4>
      <a:accent5>
        <a:srgbClr val="BB795B"/>
      </a:accent5>
      <a:accent6>
        <a:srgbClr val="6E3A3A"/>
      </a:accent6>
      <a:hlink>
        <a:srgbClr val="D65F3E"/>
      </a:hlink>
      <a:folHlink>
        <a:srgbClr val="C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TM03457475[[fn=Frame]]</Template>
  <TotalTime>240</TotalTime>
  <Words>1047</Words>
  <Application>Microsoft Office PowerPoint</Application>
  <PresentationFormat>Widescreen</PresentationFormat>
  <Paragraphs>102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PowerPoint Presentation</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dc:description>generated using python-pptx</dc:description>
  <cp:lastModifiedBy>Vaishnavi kumari</cp:lastModifiedBy>
  <cp:revision>10</cp:revision>
  <dcterms:created xsi:type="dcterms:W3CDTF">2013-01-27T09:14:16Z</dcterms:created>
  <dcterms:modified xsi:type="dcterms:W3CDTF">2026-09-20T19:02:06Z</dcterms:modified>
</cp:coreProperties>
</file>